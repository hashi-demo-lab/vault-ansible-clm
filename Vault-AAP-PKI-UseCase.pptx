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frame something that I think most leadership teams underestimate.
Every single digital interaction your organisation has — every API call, every service talking to another service, every customer transaction — depends on an X.509 certificate. That's the thing that says "I am who I say I am" in the digital world. It's the handshake before the conversation.
Now here's what's changed. Five years ago, you might have had a few hundred of these certificates. Today? Thousands. Tens of thousands. Because every microservice, every container, every cloud workload needs its own identity. And it's not just volume — it's complexity. You're running across on-prem, multiple clouds, edge locations. Each with different tooling, different access models, different rules.
And then layer on the regulatory reality. PCI-DSS, SOX, HIPAA — they all now explicitly require you to prove you have governance over your certificate infrastructure. Not just "we manage certs" — provable, auditable governance.
So the situation is this: the thing that underpins every transaction your business processes is growing exponentially in scale and complexity. And that's before we talk about what happens when it goes wrong — which is the next slide.
The question I'd put to the room is: do you have visibility into how many certificates are active across your estate right now? If the answer isn't immediate, that tells you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where it gets uncomfortable — and I think this is the slide that should create some tension in the room.
When a certificate expires and nobody noticed, the service goes down. Not gracefully. Not with a warning. It just stops. And the worst part? The root cause isn't obvious. Teams spend hours debugging what looks like a network issue or an application failure before someone finally thinks to check the certificate. By that point, you've burned through your SLA, your customers have noticed, and someone's writing a post-mortem.
This isn't theoretical. Major organisations — banks, airlines, cloud providers — have had high-profile outages traced back to a single expired certificate. We're talking millions in direct revenue impact, plus the reputational cost that's harder to quantify but arguably more damaging.
Now zoom out from the single incident. Think about the day-to-day. Your best engineers — the people you're paying top-of-market compensation to build differentiated products — are spending days managing certificate rotation. Coordinating change windows. Copying certificates to the right servers. Verifying they're installed correctly. That's not engineering. That's administration. And it doesn't scale.
Then there's the compliance angle. When the auditors come — and they always come — and they ask you to prove the provenance of every certificate in your estate, to show the chain of custody, to demonstrate timely rotation... if you can't produce that evidence quickly, you're in trouble. Not "we'll fix it next quarter" trouble. Regulatory finding trouble.
The fundamental problem is this: every new service you deploy increases the number of certificates you need to manage, but your capacity to manage them manually stays flat. That gap only widens. And every day you operate in that gap, you're accumulating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so we've painted the picture — growing demand, compounding risk. Now let me show you how this actually gets solved. And I want to be precise about this because the answer isn't "just buy a tool." The answer is combining two best-in-class capabilities that each solve a different half of the problem.
HashiCorp Vault is the PKI engine. Think of it as your internal certificate authority on demand. Instead of someone raising a ticket, waiting for approval, generating a certificate manually, and copying it to a server — Vault mints certificates programmatically, in seconds, with policy controls baked in.
Here's what makes it powerful for this use case: the certificates are short-lived by design. Instead of issuing a certificate that's valid for a year and hoping someone remembers to renew it, Vault issues certificates that last hours or days. If one is compromised, the blast radius is tiny. And because issuance is automated, short-lived isn't a burden — it's a feature. It also handles revocation, CRL, OCSP — the full lifecycle.
But Vault on its own solves the "minting" problem. You still need to get that certificate onto the right server, configure the application to use it, and do that consistently across hundreds or thousands of targets. That's where Ansible Automation Platform comes in.
AAP is the orchestration layer. It takes that freshly minted certificate from Vault and deploys it everywhere it needs to go — consistently, repeatably, across every environment. On-prem servers, cloud instances, network devices. And it's agentless, which matters because half the places you need certificates are devices where you can't install additional software.
The combination is what makes this work. Vault handles the "what" — issuing and managing the certificate. Ansible handles the "where" and "how" — deploying and configuring it across your entire estate. Neither tool alone solves the problem. Together, they give you an end-to-end automated pipeline.
The business outcome is straightforward: zero certificate-related outages because nothing expires unmanaged. Continuous compliance because every issuance, deployment, and rotation is logged. And your engineering teams go back to building products instead of rotating certificates.
I'd suggest the next step is a focused workshop where we map your current certificate landscape and model what this looks like in your environment. We can typically have a proof-of-value running within weeks, not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F62FE"/>
          </a:solidFill>
          <a:ln/>
        </p:spPr>
      </p:sp>
      <p:sp>
        <p:nvSpPr>
          <p:cNvPr id="3" name="Text 1"/>
          <p:cNvSpPr/>
          <p:nvPr/>
        </p:nvSpPr>
        <p:spPr>
          <a:xfrm>
            <a:off x="640080" y="228600"/>
            <a:ext cx="4572000" cy="201168"/>
          </a:xfrm>
          <a:prstGeom prst="rect">
            <a:avLst/>
          </a:prstGeom>
          <a:noFill/>
          <a:ln/>
        </p:spPr>
        <p:txBody>
          <a:bodyPr wrap="square" lIns="0" tIns="0" rIns="0" bIns="0" rtlCol="0" anchor="ctr"/>
          <a:lstStyle/>
          <a:p>
            <a:pPr indent="0" marL="0">
              <a:buNone/>
            </a:pPr>
            <a:r>
              <a:rPr lang="en-US" sz="1000" b="1" spc="300" kern="0" dirty="0">
                <a:solidFill>
                  <a:srgbClr val="0F62FE"/>
                </a:solidFill>
                <a:latin typeface="Arial" pitchFamily="34" charset="0"/>
                <a:ea typeface="Arial" pitchFamily="34" charset="-122"/>
                <a:cs typeface="Arial" pitchFamily="34" charset="-120"/>
              </a:rPr>
              <a:t>SITUATION</a:t>
            </a:r>
            <a:endParaRPr lang="en-US" sz="1000" dirty="0"/>
          </a:p>
        </p:txBody>
      </p:sp>
      <p:sp>
        <p:nvSpPr>
          <p:cNvPr id="4" name="Text 2"/>
          <p:cNvSpPr/>
          <p:nvPr/>
        </p:nvSpPr>
        <p:spPr>
          <a:xfrm>
            <a:off x="640080" y="457200"/>
            <a:ext cx="7863840" cy="429768"/>
          </a:xfrm>
          <a:prstGeom prst="rect">
            <a:avLst/>
          </a:prstGeom>
          <a:noFill/>
          <a:ln/>
        </p:spPr>
        <p:txBody>
          <a:bodyPr wrap="square" lIns="0" tIns="0" rIns="0" bIns="0" rtlCol="0" anchor="ctr"/>
          <a:lstStyle/>
          <a:p>
            <a:pPr indent="0" marL="0">
              <a:buNone/>
            </a:pPr>
            <a:r>
              <a:rPr lang="en-US" sz="2200" b="1" dirty="0">
                <a:solidFill>
                  <a:srgbClr val="161616"/>
                </a:solidFill>
                <a:latin typeface="Arial Black" pitchFamily="34" charset="0"/>
                <a:ea typeface="Arial Black" pitchFamily="34" charset="-122"/>
                <a:cs typeface="Arial Black" pitchFamily="34" charset="-120"/>
              </a:rPr>
              <a:t>The Scale of Digital Trust</a:t>
            </a:r>
            <a:endParaRPr lang="en-US" sz="2200" dirty="0"/>
          </a:p>
        </p:txBody>
      </p:sp>
      <p:sp>
        <p:nvSpPr>
          <p:cNvPr id="5" name="Text 3"/>
          <p:cNvSpPr/>
          <p:nvPr/>
        </p:nvSpPr>
        <p:spPr>
          <a:xfrm>
            <a:off x="640080" y="932688"/>
            <a:ext cx="7863840" cy="274320"/>
          </a:xfrm>
          <a:prstGeom prst="rect">
            <a:avLst/>
          </a:prstGeom>
          <a:noFill/>
          <a:ln/>
        </p:spPr>
        <p:txBody>
          <a:bodyPr wrap="square" lIns="0" tIns="0" rIns="0" bIns="0" rtlCol="0" anchor="ctr"/>
          <a:lstStyle/>
          <a:p>
            <a:pPr indent="0" marL="0">
              <a:buNone/>
            </a:pPr>
            <a:r>
              <a:rPr lang="en-US" sz="1200" dirty="0">
                <a:solidFill>
                  <a:srgbClr val="525252"/>
                </a:solidFill>
                <a:latin typeface="Arial" pitchFamily="34" charset="0"/>
                <a:ea typeface="Arial" pitchFamily="34" charset="-122"/>
                <a:cs typeface="Arial" pitchFamily="34" charset="-120"/>
              </a:rPr>
              <a:t>Every digital interaction depends on X.509 certificates for identity and encryption — and that demand is growing exponentially</a:t>
            </a:r>
            <a:endParaRPr lang="en-US" sz="1200" dirty="0"/>
          </a:p>
        </p:txBody>
      </p:sp>
      <p:sp>
        <p:nvSpPr>
          <p:cNvPr id="6" name="Shape 4"/>
          <p:cNvSpPr/>
          <p:nvPr/>
        </p:nvSpPr>
        <p:spPr>
          <a:xfrm>
            <a:off x="640080" y="1325880"/>
            <a:ext cx="3749040" cy="1261872"/>
          </a:xfrm>
          <a:prstGeom prst="rect">
            <a:avLst/>
          </a:prstGeom>
          <a:solidFill>
            <a:srgbClr val="F4F4F4"/>
          </a:solidFill>
          <a:ln/>
          <a:effectLst>
            <a:outerShdw sx="100000" sy="100000" kx="0" ky="0" algn="bl" rotWithShape="0" blurRad="101600" dist="25400" dir="8100000">
              <a:srgbClr val="000000">
                <a:alpha val="8000"/>
              </a:srgbClr>
            </a:outerShdw>
          </a:effectLst>
        </p:spPr>
      </p:sp>
      <p:pic>
        <p:nvPicPr>
          <p:cNvPr id="7" name="Image 0" descr="preencoded.png">    </p:cNvPr>
          <p:cNvPicPr>
            <a:picLocks noChangeAspect="1"/>
          </p:cNvPicPr>
          <p:nvPr/>
        </p:nvPicPr>
        <p:blipFill>
          <a:blip r:embed="rId1"/>
          <a:stretch>
            <a:fillRect/>
          </a:stretch>
        </p:blipFill>
        <p:spPr>
          <a:xfrm>
            <a:off x="640080" y="1325880"/>
            <a:ext cx="73152" cy="1261872"/>
          </a:xfrm>
          <a:prstGeom prst="rect">
            <a:avLst/>
          </a:prstGeom>
        </p:spPr>
      </p:pic>
      <p:sp>
        <p:nvSpPr>
          <p:cNvPr id="8" name="Shape 5"/>
          <p:cNvSpPr/>
          <p:nvPr/>
        </p:nvSpPr>
        <p:spPr>
          <a:xfrm>
            <a:off x="841248" y="1527048"/>
            <a:ext cx="475488" cy="475488"/>
          </a:xfrm>
          <a:prstGeom prst="ellipse">
            <a:avLst/>
          </a:prstGeom>
          <a:solidFill>
            <a:srgbClr val="F0F5FF"/>
          </a:solidFill>
          <a:ln/>
        </p:spPr>
      </p:sp>
      <p:pic>
        <p:nvPicPr>
          <p:cNvPr id="9" name="Image 1" descr="preencoded.png">    </p:cNvPr>
          <p:cNvPicPr>
            <a:picLocks noChangeAspect="1"/>
          </p:cNvPicPr>
          <p:nvPr/>
        </p:nvPicPr>
        <p:blipFill>
          <a:blip r:embed="rId2"/>
          <a:stretch>
            <a:fillRect/>
          </a:stretch>
        </p:blipFill>
        <p:spPr>
          <a:xfrm>
            <a:off x="905256" y="1591056"/>
            <a:ext cx="347472" cy="347472"/>
          </a:xfrm>
          <a:prstGeom prst="rect">
            <a:avLst/>
          </a:prstGeom>
        </p:spPr>
      </p:pic>
      <p:sp>
        <p:nvSpPr>
          <p:cNvPr id="10" name="Text 6"/>
          <p:cNvSpPr/>
          <p:nvPr/>
        </p:nvSpPr>
        <p:spPr>
          <a:xfrm>
            <a:off x="1444752" y="1435608"/>
            <a:ext cx="2788920" cy="292608"/>
          </a:xfrm>
          <a:prstGeom prst="rect">
            <a:avLst/>
          </a:prstGeom>
          <a:noFill/>
          <a:ln/>
        </p:spPr>
        <p:txBody>
          <a:bodyPr wrap="square" lIns="0" tIns="0" rIns="0" bIns="0" rtlCol="0" anchor="ctr"/>
          <a:lstStyle/>
          <a:p>
            <a:pPr indent="0" marL="0">
              <a:buNone/>
            </a:pPr>
            <a:r>
              <a:rPr lang="en-US" sz="1300" b="1" dirty="0">
                <a:solidFill>
                  <a:srgbClr val="161616"/>
                </a:solidFill>
                <a:latin typeface="Arial" pitchFamily="34" charset="0"/>
                <a:ea typeface="Arial" pitchFamily="34" charset="-122"/>
                <a:cs typeface="Arial" pitchFamily="34" charset="-120"/>
              </a:rPr>
              <a:t>Machine Identity Explosion</a:t>
            </a:r>
            <a:endParaRPr lang="en-US" sz="1300" dirty="0"/>
          </a:p>
        </p:txBody>
      </p:sp>
      <p:sp>
        <p:nvSpPr>
          <p:cNvPr id="11" name="Text 7"/>
          <p:cNvSpPr/>
          <p:nvPr/>
        </p:nvSpPr>
        <p:spPr>
          <a:xfrm>
            <a:off x="1444752" y="1764792"/>
            <a:ext cx="2788920" cy="749808"/>
          </a:xfrm>
          <a:prstGeom prst="rect">
            <a:avLst/>
          </a:prstGeom>
          <a:noFill/>
          <a:ln/>
        </p:spPr>
        <p:txBody>
          <a:bodyPr wrap="square" lIns="0" tIns="0" rIns="0" bIns="0" rtlCol="0" anchor="t"/>
          <a:lstStyle/>
          <a:p>
            <a:pPr indent="0" marL="0">
              <a:buNone/>
            </a:pPr>
            <a:r>
              <a:rPr lang="en-US" sz="1000" dirty="0">
                <a:solidFill>
                  <a:srgbClr val="525252"/>
                </a:solidFill>
                <a:latin typeface="Arial" pitchFamily="34" charset="0"/>
                <a:ea typeface="Arial" pitchFamily="34" charset="-122"/>
                <a:cs typeface="Arial" pitchFamily="34" charset="-120"/>
              </a:rPr>
              <a:t>Services, APIs, containers, and IoT devices all require unique X.509 certificates. Enterprise environments now manage thousands of certificates — each with its own issuance, renewal, and revocation lifecycle.</a:t>
            </a:r>
            <a:endParaRPr lang="en-US" sz="1000" dirty="0"/>
          </a:p>
        </p:txBody>
      </p:sp>
      <p:sp>
        <p:nvSpPr>
          <p:cNvPr id="12" name="Shape 8"/>
          <p:cNvSpPr/>
          <p:nvPr/>
        </p:nvSpPr>
        <p:spPr>
          <a:xfrm>
            <a:off x="4754880" y="1325880"/>
            <a:ext cx="3749040" cy="1261872"/>
          </a:xfrm>
          <a:prstGeom prst="rect">
            <a:avLst/>
          </a:prstGeom>
          <a:solidFill>
            <a:srgbClr val="F4F4F4"/>
          </a:solidFill>
          <a:ln/>
          <a:effectLst>
            <a:outerShdw sx="100000" sy="100000" kx="0" ky="0" algn="bl" rotWithShape="0" blurRad="101600" dist="25400" dir="8100000">
              <a:srgbClr val="000000">
                <a:alpha val="8000"/>
              </a:srgbClr>
            </a:outerShdw>
          </a:effectLst>
        </p:spPr>
      </p:sp>
      <p:pic>
        <p:nvPicPr>
          <p:cNvPr id="13" name="Image 2" descr="preencoded.png">    </p:cNvPr>
          <p:cNvPicPr>
            <a:picLocks noChangeAspect="1"/>
          </p:cNvPicPr>
          <p:nvPr/>
        </p:nvPicPr>
        <p:blipFill>
          <a:blip r:embed="rId3"/>
          <a:stretch>
            <a:fillRect/>
          </a:stretch>
        </p:blipFill>
        <p:spPr>
          <a:xfrm>
            <a:off x="4754880" y="1325880"/>
            <a:ext cx="73152" cy="1261872"/>
          </a:xfrm>
          <a:prstGeom prst="rect">
            <a:avLst/>
          </a:prstGeom>
        </p:spPr>
      </p:pic>
      <p:sp>
        <p:nvSpPr>
          <p:cNvPr id="14" name="Shape 9"/>
          <p:cNvSpPr/>
          <p:nvPr/>
        </p:nvSpPr>
        <p:spPr>
          <a:xfrm>
            <a:off x="4956048" y="1527048"/>
            <a:ext cx="475488" cy="475488"/>
          </a:xfrm>
          <a:prstGeom prst="ellipse">
            <a:avLst/>
          </a:prstGeom>
          <a:solidFill>
            <a:srgbClr val="F0F5FF"/>
          </a:solidFill>
          <a:ln/>
        </p:spPr>
      </p:sp>
      <p:pic>
        <p:nvPicPr>
          <p:cNvPr id="15" name="Image 3" descr="preencoded.png">    </p:cNvPr>
          <p:cNvPicPr>
            <a:picLocks noChangeAspect="1"/>
          </p:cNvPicPr>
          <p:nvPr/>
        </p:nvPicPr>
        <p:blipFill>
          <a:blip r:embed="rId4"/>
          <a:stretch>
            <a:fillRect/>
          </a:stretch>
        </p:blipFill>
        <p:spPr>
          <a:xfrm>
            <a:off x="5020056" y="1591056"/>
            <a:ext cx="347472" cy="347472"/>
          </a:xfrm>
          <a:prstGeom prst="rect">
            <a:avLst/>
          </a:prstGeom>
        </p:spPr>
      </p:pic>
      <p:sp>
        <p:nvSpPr>
          <p:cNvPr id="16" name="Text 10"/>
          <p:cNvSpPr/>
          <p:nvPr/>
        </p:nvSpPr>
        <p:spPr>
          <a:xfrm>
            <a:off x="5559552" y="1435608"/>
            <a:ext cx="2788920" cy="292608"/>
          </a:xfrm>
          <a:prstGeom prst="rect">
            <a:avLst/>
          </a:prstGeom>
          <a:noFill/>
          <a:ln/>
        </p:spPr>
        <p:txBody>
          <a:bodyPr wrap="square" lIns="0" tIns="0" rIns="0" bIns="0" rtlCol="0" anchor="ctr"/>
          <a:lstStyle/>
          <a:p>
            <a:pPr indent="0" marL="0">
              <a:buNone/>
            </a:pPr>
            <a:r>
              <a:rPr lang="en-US" sz="1300" b="1" dirty="0">
                <a:solidFill>
                  <a:srgbClr val="161616"/>
                </a:solidFill>
                <a:latin typeface="Arial" pitchFamily="34" charset="0"/>
                <a:ea typeface="Arial" pitchFamily="34" charset="-122"/>
                <a:cs typeface="Arial" pitchFamily="34" charset="-120"/>
              </a:rPr>
              <a:t>Hybrid &amp; Multi-Cloud Complexity</a:t>
            </a:r>
            <a:endParaRPr lang="en-US" sz="1300" dirty="0"/>
          </a:p>
        </p:txBody>
      </p:sp>
      <p:sp>
        <p:nvSpPr>
          <p:cNvPr id="17" name="Text 11"/>
          <p:cNvSpPr/>
          <p:nvPr/>
        </p:nvSpPr>
        <p:spPr>
          <a:xfrm>
            <a:off x="5559552" y="1764792"/>
            <a:ext cx="2788920" cy="749808"/>
          </a:xfrm>
          <a:prstGeom prst="rect">
            <a:avLst/>
          </a:prstGeom>
          <a:noFill/>
          <a:ln/>
        </p:spPr>
        <p:txBody>
          <a:bodyPr wrap="square" lIns="0" tIns="0" rIns="0" bIns="0" rtlCol="0" anchor="t"/>
          <a:lstStyle/>
          <a:p>
            <a:pPr indent="0" marL="0">
              <a:buNone/>
            </a:pPr>
            <a:r>
              <a:rPr lang="en-US" sz="1000" dirty="0">
                <a:solidFill>
                  <a:srgbClr val="525252"/>
                </a:solidFill>
                <a:latin typeface="Arial" pitchFamily="34" charset="0"/>
                <a:ea typeface="Arial" pitchFamily="34" charset="-122"/>
                <a:cs typeface="Arial" pitchFamily="34" charset="-120"/>
              </a:rPr>
              <a:t>Certificates must be provisioned consistently across on-premises data centres, public clouds, and edge locations — each with different tooling and access models.</a:t>
            </a:r>
            <a:endParaRPr lang="en-US" sz="1000" dirty="0"/>
          </a:p>
        </p:txBody>
      </p:sp>
      <p:sp>
        <p:nvSpPr>
          <p:cNvPr id="18" name="Shape 12"/>
          <p:cNvSpPr/>
          <p:nvPr/>
        </p:nvSpPr>
        <p:spPr>
          <a:xfrm>
            <a:off x="640080" y="2770632"/>
            <a:ext cx="3749040" cy="1261872"/>
          </a:xfrm>
          <a:prstGeom prst="rect">
            <a:avLst/>
          </a:prstGeom>
          <a:solidFill>
            <a:srgbClr val="F4F4F4"/>
          </a:solidFill>
          <a:ln/>
          <a:effectLst>
            <a:outerShdw sx="100000" sy="100000" kx="0" ky="0" algn="bl" rotWithShape="0" blurRad="101600" dist="25400" dir="8100000">
              <a:srgbClr val="000000">
                <a:alpha val="8000"/>
              </a:srgbClr>
            </a:outerShdw>
          </a:effectLst>
        </p:spPr>
      </p:sp>
      <p:pic>
        <p:nvPicPr>
          <p:cNvPr id="19" name="Image 4" descr="preencoded.png">    </p:cNvPr>
          <p:cNvPicPr>
            <a:picLocks noChangeAspect="1"/>
          </p:cNvPicPr>
          <p:nvPr/>
        </p:nvPicPr>
        <p:blipFill>
          <a:blip r:embed="rId5"/>
          <a:stretch>
            <a:fillRect/>
          </a:stretch>
        </p:blipFill>
        <p:spPr>
          <a:xfrm>
            <a:off x="640080" y="2770632"/>
            <a:ext cx="73152" cy="1261872"/>
          </a:xfrm>
          <a:prstGeom prst="rect">
            <a:avLst/>
          </a:prstGeom>
        </p:spPr>
      </p:pic>
      <p:sp>
        <p:nvSpPr>
          <p:cNvPr id="20" name="Shape 13"/>
          <p:cNvSpPr/>
          <p:nvPr/>
        </p:nvSpPr>
        <p:spPr>
          <a:xfrm>
            <a:off x="841248" y="2971800"/>
            <a:ext cx="475488" cy="475488"/>
          </a:xfrm>
          <a:prstGeom prst="ellipse">
            <a:avLst/>
          </a:prstGeom>
          <a:solidFill>
            <a:srgbClr val="F0F5FF"/>
          </a:solidFill>
          <a:ln/>
        </p:spPr>
      </p:sp>
      <p:pic>
        <p:nvPicPr>
          <p:cNvPr id="21" name="Image 5" descr="preencoded.png">    </p:cNvPr>
          <p:cNvPicPr>
            <a:picLocks noChangeAspect="1"/>
          </p:cNvPicPr>
          <p:nvPr/>
        </p:nvPicPr>
        <p:blipFill>
          <a:blip r:embed="rId6"/>
          <a:stretch>
            <a:fillRect/>
          </a:stretch>
        </p:blipFill>
        <p:spPr>
          <a:xfrm>
            <a:off x="905256" y="3035808"/>
            <a:ext cx="347472" cy="347472"/>
          </a:xfrm>
          <a:prstGeom prst="rect">
            <a:avLst/>
          </a:prstGeom>
        </p:spPr>
      </p:pic>
      <p:sp>
        <p:nvSpPr>
          <p:cNvPr id="22" name="Text 14"/>
          <p:cNvSpPr/>
          <p:nvPr/>
        </p:nvSpPr>
        <p:spPr>
          <a:xfrm>
            <a:off x="1444752" y="2880360"/>
            <a:ext cx="2788920" cy="292608"/>
          </a:xfrm>
          <a:prstGeom prst="rect">
            <a:avLst/>
          </a:prstGeom>
          <a:noFill/>
          <a:ln/>
        </p:spPr>
        <p:txBody>
          <a:bodyPr wrap="square" lIns="0" tIns="0" rIns="0" bIns="0" rtlCol="0" anchor="ctr"/>
          <a:lstStyle/>
          <a:p>
            <a:pPr indent="0" marL="0">
              <a:buNone/>
            </a:pPr>
            <a:r>
              <a:rPr lang="en-US" sz="1300" b="1" dirty="0">
                <a:solidFill>
                  <a:srgbClr val="161616"/>
                </a:solidFill>
                <a:latin typeface="Arial" pitchFamily="34" charset="0"/>
                <a:ea typeface="Arial" pitchFamily="34" charset="-122"/>
                <a:cs typeface="Arial" pitchFamily="34" charset="-120"/>
              </a:rPr>
              <a:t>Regulatory &amp; Compliance Pressure</a:t>
            </a:r>
            <a:endParaRPr lang="en-US" sz="1300" dirty="0"/>
          </a:p>
        </p:txBody>
      </p:sp>
      <p:sp>
        <p:nvSpPr>
          <p:cNvPr id="23" name="Text 15"/>
          <p:cNvSpPr/>
          <p:nvPr/>
        </p:nvSpPr>
        <p:spPr>
          <a:xfrm>
            <a:off x="1444752" y="3209544"/>
            <a:ext cx="2788920" cy="749808"/>
          </a:xfrm>
          <a:prstGeom prst="rect">
            <a:avLst/>
          </a:prstGeom>
          <a:noFill/>
          <a:ln/>
        </p:spPr>
        <p:txBody>
          <a:bodyPr wrap="square" lIns="0" tIns="0" rIns="0" bIns="0" rtlCol="0" anchor="t"/>
          <a:lstStyle/>
          <a:p>
            <a:pPr indent="0" marL="0">
              <a:buNone/>
            </a:pPr>
            <a:r>
              <a:rPr lang="en-US" sz="1000" dirty="0">
                <a:solidFill>
                  <a:srgbClr val="525252"/>
                </a:solidFill>
                <a:latin typeface="Arial" pitchFamily="34" charset="0"/>
                <a:ea typeface="Arial" pitchFamily="34" charset="-122"/>
                <a:cs typeface="Arial" pitchFamily="34" charset="-120"/>
              </a:rPr>
              <a:t>PCI-DSS, SOX, HIPAA, and emerging frameworks mandate provable X.509 certificate governance, auditability, and rapid revocation capabilities.</a:t>
            </a:r>
            <a:endParaRPr lang="en-US" sz="1000" dirty="0"/>
          </a:p>
        </p:txBody>
      </p:sp>
      <p:sp>
        <p:nvSpPr>
          <p:cNvPr id="24" name="Shape 16"/>
          <p:cNvSpPr/>
          <p:nvPr/>
        </p:nvSpPr>
        <p:spPr>
          <a:xfrm>
            <a:off x="4754880" y="2770632"/>
            <a:ext cx="3749040" cy="1261872"/>
          </a:xfrm>
          <a:prstGeom prst="rect">
            <a:avLst/>
          </a:prstGeom>
          <a:solidFill>
            <a:srgbClr val="F4F4F4"/>
          </a:solidFill>
          <a:ln/>
          <a:effectLst>
            <a:outerShdw sx="100000" sy="100000" kx="0" ky="0" algn="bl" rotWithShape="0" blurRad="101600" dist="25400" dir="8100000">
              <a:srgbClr val="000000">
                <a:alpha val="8000"/>
              </a:srgbClr>
            </a:outerShdw>
          </a:effectLst>
        </p:spPr>
      </p:sp>
      <p:pic>
        <p:nvPicPr>
          <p:cNvPr id="25" name="Image 6" descr="preencoded.png">    </p:cNvPr>
          <p:cNvPicPr>
            <a:picLocks noChangeAspect="1"/>
          </p:cNvPicPr>
          <p:nvPr/>
        </p:nvPicPr>
        <p:blipFill>
          <a:blip r:embed="rId7"/>
          <a:stretch>
            <a:fillRect/>
          </a:stretch>
        </p:blipFill>
        <p:spPr>
          <a:xfrm>
            <a:off x="4754880" y="2770632"/>
            <a:ext cx="73152" cy="1261872"/>
          </a:xfrm>
          <a:prstGeom prst="rect">
            <a:avLst/>
          </a:prstGeom>
        </p:spPr>
      </p:pic>
      <p:sp>
        <p:nvSpPr>
          <p:cNvPr id="26" name="Shape 17"/>
          <p:cNvSpPr/>
          <p:nvPr/>
        </p:nvSpPr>
        <p:spPr>
          <a:xfrm>
            <a:off x="4956048" y="2971800"/>
            <a:ext cx="475488" cy="475488"/>
          </a:xfrm>
          <a:prstGeom prst="ellipse">
            <a:avLst/>
          </a:prstGeom>
          <a:solidFill>
            <a:srgbClr val="F0F5FF"/>
          </a:solidFill>
          <a:ln/>
        </p:spPr>
      </p:sp>
      <p:pic>
        <p:nvPicPr>
          <p:cNvPr id="27" name="Image 7" descr="preencoded.png">    </p:cNvPr>
          <p:cNvPicPr>
            <a:picLocks noChangeAspect="1"/>
          </p:cNvPicPr>
          <p:nvPr/>
        </p:nvPicPr>
        <p:blipFill>
          <a:blip r:embed="rId8"/>
          <a:stretch>
            <a:fillRect/>
          </a:stretch>
        </p:blipFill>
        <p:spPr>
          <a:xfrm>
            <a:off x="5020056" y="3035808"/>
            <a:ext cx="347472" cy="347472"/>
          </a:xfrm>
          <a:prstGeom prst="rect">
            <a:avLst/>
          </a:prstGeom>
        </p:spPr>
      </p:pic>
      <p:sp>
        <p:nvSpPr>
          <p:cNvPr id="28" name="Text 18"/>
          <p:cNvSpPr/>
          <p:nvPr/>
        </p:nvSpPr>
        <p:spPr>
          <a:xfrm>
            <a:off x="5559552" y="2880360"/>
            <a:ext cx="2788920" cy="292608"/>
          </a:xfrm>
          <a:prstGeom prst="rect">
            <a:avLst/>
          </a:prstGeom>
          <a:noFill/>
          <a:ln/>
        </p:spPr>
        <p:txBody>
          <a:bodyPr wrap="square" lIns="0" tIns="0" rIns="0" bIns="0" rtlCol="0" anchor="ctr"/>
          <a:lstStyle/>
          <a:p>
            <a:pPr indent="0" marL="0">
              <a:buNone/>
            </a:pPr>
            <a:r>
              <a:rPr lang="en-US" sz="1300" b="1" dirty="0">
                <a:solidFill>
                  <a:srgbClr val="161616"/>
                </a:solidFill>
                <a:latin typeface="Arial" pitchFamily="34" charset="0"/>
                <a:ea typeface="Arial" pitchFamily="34" charset="-122"/>
                <a:cs typeface="Arial" pitchFamily="34" charset="-120"/>
              </a:rPr>
              <a:t>Business Dependency on Trust</a:t>
            </a:r>
            <a:endParaRPr lang="en-US" sz="1300" dirty="0"/>
          </a:p>
        </p:txBody>
      </p:sp>
      <p:sp>
        <p:nvSpPr>
          <p:cNvPr id="29" name="Text 19"/>
          <p:cNvSpPr/>
          <p:nvPr/>
        </p:nvSpPr>
        <p:spPr>
          <a:xfrm>
            <a:off x="5559552" y="3209544"/>
            <a:ext cx="2788920" cy="749808"/>
          </a:xfrm>
          <a:prstGeom prst="rect">
            <a:avLst/>
          </a:prstGeom>
          <a:noFill/>
          <a:ln/>
        </p:spPr>
        <p:txBody>
          <a:bodyPr wrap="square" lIns="0" tIns="0" rIns="0" bIns="0" rtlCol="0" anchor="t"/>
          <a:lstStyle/>
          <a:p>
            <a:pPr indent="0" marL="0">
              <a:buNone/>
            </a:pPr>
            <a:r>
              <a:rPr lang="en-US" sz="1000" dirty="0">
                <a:solidFill>
                  <a:srgbClr val="525252"/>
                </a:solidFill>
                <a:latin typeface="Arial" pitchFamily="34" charset="0"/>
                <a:ea typeface="Arial" pitchFamily="34" charset="-122"/>
                <a:cs typeface="Arial" pitchFamily="34" charset="-120"/>
              </a:rPr>
              <a:t>Every customer transaction, partner API call, and internal service mesh relies on valid certificates. Trust is the invisible foundation of revenue.</a:t>
            </a:r>
            <a:endParaRPr lang="en-US" sz="1000" dirty="0"/>
          </a:p>
        </p:txBody>
      </p:sp>
      <p:sp>
        <p:nvSpPr>
          <p:cNvPr id="30" name="Shape 20"/>
          <p:cNvSpPr/>
          <p:nvPr/>
        </p:nvSpPr>
        <p:spPr>
          <a:xfrm>
            <a:off x="640080" y="4343400"/>
            <a:ext cx="7863840" cy="502920"/>
          </a:xfrm>
          <a:prstGeom prst="rect">
            <a:avLst/>
          </a:prstGeom>
          <a:solidFill>
            <a:srgbClr val="F0F5FF"/>
          </a:solidFill>
          <a:ln w="12700">
            <a:solidFill>
              <a:srgbClr val="0F62FE"/>
            </a:solidFill>
            <a:prstDash val="solid"/>
          </a:ln>
        </p:spPr>
      </p:sp>
      <p:pic>
        <p:nvPicPr>
          <p:cNvPr id="31" name="Image 8" descr="preencoded.png">    </p:cNvPr>
          <p:cNvPicPr>
            <a:picLocks noChangeAspect="1"/>
          </p:cNvPicPr>
          <p:nvPr/>
        </p:nvPicPr>
        <p:blipFill>
          <a:blip r:embed="rId9"/>
          <a:stretch>
            <a:fillRect/>
          </a:stretch>
        </p:blipFill>
        <p:spPr>
          <a:xfrm>
            <a:off x="822960" y="4443984"/>
            <a:ext cx="274320" cy="274320"/>
          </a:xfrm>
          <a:prstGeom prst="rect">
            <a:avLst/>
          </a:prstGeom>
        </p:spPr>
      </p:pic>
      <p:sp>
        <p:nvSpPr>
          <p:cNvPr id="32" name="Text 21"/>
          <p:cNvSpPr/>
          <p:nvPr/>
        </p:nvSpPr>
        <p:spPr>
          <a:xfrm>
            <a:off x="1234440" y="4343400"/>
            <a:ext cx="7086600" cy="502920"/>
          </a:xfrm>
          <a:prstGeom prst="rect">
            <a:avLst/>
          </a:prstGeom>
          <a:noFill/>
          <a:ln/>
        </p:spPr>
        <p:txBody>
          <a:bodyPr wrap="square" lIns="0" tIns="0" rIns="0" bIns="0" rtlCol="0" anchor="ctr"/>
          <a:lstStyle/>
          <a:p>
            <a:pPr indent="0" marL="0">
              <a:buNone/>
            </a:pPr>
            <a:r>
              <a:rPr lang="en-US" sz="1050" b="1" dirty="0">
                <a:solidFill>
                  <a:srgbClr val="161616"/>
                </a:solidFill>
                <a:latin typeface="Arial" pitchFamily="34" charset="0"/>
                <a:ea typeface="Arial" pitchFamily="34" charset="-122"/>
                <a:cs typeface="Arial" pitchFamily="34" charset="-120"/>
              </a:rPr>
              <a:t>The challenge: </a:t>
            </a:r>
            <a:pPr indent="0" marL="0">
              <a:buNone/>
            </a:pPr>
            <a:r>
              <a:rPr lang="en-US" sz="1050" dirty="0">
                <a:solidFill>
                  <a:srgbClr val="525252"/>
                </a:solidFill>
                <a:latin typeface="Arial" pitchFamily="34" charset="0"/>
                <a:ea typeface="Arial" pitchFamily="34" charset="-122"/>
                <a:cs typeface="Arial" pitchFamily="34" charset="-120"/>
              </a:rPr>
              <a:t>Certificate demand is scaling faster than any manual process can sustain — across every environment, every workload, every regulation.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A1E28"/>
          </a:solidFill>
          <a:ln/>
        </p:spPr>
      </p:sp>
      <p:sp>
        <p:nvSpPr>
          <p:cNvPr id="3" name="Text 1"/>
          <p:cNvSpPr/>
          <p:nvPr/>
        </p:nvSpPr>
        <p:spPr>
          <a:xfrm>
            <a:off x="640080" y="228600"/>
            <a:ext cx="4572000" cy="201168"/>
          </a:xfrm>
          <a:prstGeom prst="rect">
            <a:avLst/>
          </a:prstGeom>
          <a:noFill/>
          <a:ln/>
        </p:spPr>
        <p:txBody>
          <a:bodyPr wrap="square" lIns="0" tIns="0" rIns="0" bIns="0" rtlCol="0" anchor="ctr"/>
          <a:lstStyle/>
          <a:p>
            <a:pPr indent="0" marL="0">
              <a:buNone/>
            </a:pPr>
            <a:r>
              <a:rPr lang="en-US" sz="1000" b="1" spc="300" kern="0" dirty="0">
                <a:solidFill>
                  <a:srgbClr val="DA1E28"/>
                </a:solidFill>
                <a:latin typeface="Arial" pitchFamily="34" charset="0"/>
                <a:ea typeface="Arial" pitchFamily="34" charset="-122"/>
                <a:cs typeface="Arial" pitchFamily="34" charset="-120"/>
              </a:rPr>
              <a:t>COMPLICATION</a:t>
            </a:r>
            <a:endParaRPr lang="en-US" sz="1000" dirty="0"/>
          </a:p>
        </p:txBody>
      </p:sp>
      <p:sp>
        <p:nvSpPr>
          <p:cNvPr id="4" name="Text 2"/>
          <p:cNvSpPr/>
          <p:nvPr/>
        </p:nvSpPr>
        <p:spPr>
          <a:xfrm>
            <a:off x="640080" y="457200"/>
            <a:ext cx="7863840" cy="429768"/>
          </a:xfrm>
          <a:prstGeom prst="rect">
            <a:avLst/>
          </a:prstGeom>
          <a:noFill/>
          <a:ln/>
        </p:spPr>
        <p:txBody>
          <a:bodyPr wrap="square" lIns="0" tIns="0" rIns="0" bIns="0" rtlCol="0" anchor="ctr"/>
          <a:lstStyle/>
          <a:p>
            <a:pPr indent="0" marL="0">
              <a:buNone/>
            </a:pPr>
            <a:r>
              <a:rPr lang="en-US" sz="2200" b="1" dirty="0">
                <a:solidFill>
                  <a:srgbClr val="161616"/>
                </a:solidFill>
                <a:latin typeface="Arial Black" pitchFamily="34" charset="0"/>
                <a:ea typeface="Arial Black" pitchFamily="34" charset="-122"/>
                <a:cs typeface="Arial Black" pitchFamily="34" charset="-120"/>
              </a:rPr>
              <a:t>The Cost of Manual Certificate Management</a:t>
            </a:r>
            <a:endParaRPr lang="en-US" sz="2200" dirty="0"/>
          </a:p>
        </p:txBody>
      </p:sp>
      <p:sp>
        <p:nvSpPr>
          <p:cNvPr id="5" name="Text 3"/>
          <p:cNvSpPr/>
          <p:nvPr/>
        </p:nvSpPr>
        <p:spPr>
          <a:xfrm>
            <a:off x="640080" y="932688"/>
            <a:ext cx="7863840" cy="274320"/>
          </a:xfrm>
          <a:prstGeom prst="rect">
            <a:avLst/>
          </a:prstGeom>
          <a:noFill/>
          <a:ln/>
        </p:spPr>
        <p:txBody>
          <a:bodyPr wrap="square" lIns="0" tIns="0" rIns="0" bIns="0" rtlCol="0" anchor="ctr"/>
          <a:lstStyle/>
          <a:p>
            <a:pPr indent="0" marL="0">
              <a:buNone/>
            </a:pPr>
            <a:r>
              <a:rPr lang="en-US" sz="1200" dirty="0">
                <a:solidFill>
                  <a:srgbClr val="525252"/>
                </a:solidFill>
                <a:latin typeface="Arial" pitchFamily="34" charset="0"/>
                <a:ea typeface="Arial" pitchFamily="34" charset="-122"/>
                <a:cs typeface="Arial" pitchFamily="34" charset="-120"/>
              </a:rPr>
              <a:t>Manual processes create compounding operational, security, and compliance risk</a:t>
            </a:r>
            <a:endParaRPr lang="en-US" sz="1200" dirty="0"/>
          </a:p>
        </p:txBody>
      </p:sp>
      <p:sp>
        <p:nvSpPr>
          <p:cNvPr id="6" name="Shape 4"/>
          <p:cNvSpPr/>
          <p:nvPr/>
        </p:nvSpPr>
        <p:spPr>
          <a:xfrm>
            <a:off x="640080" y="1325880"/>
            <a:ext cx="4663440" cy="658368"/>
          </a:xfrm>
          <a:prstGeom prst="rect">
            <a:avLst/>
          </a:prstGeom>
          <a:solidFill>
            <a:srgbClr val="F4F4F4"/>
          </a:solidFill>
          <a:ln/>
          <a:effectLst>
            <a:outerShdw sx="100000" sy="100000" kx="0" ky="0" algn="bl" rotWithShape="0" blurRad="101600" dist="25400" dir="8100000">
              <a:srgbClr val="000000">
                <a:alpha val="8000"/>
              </a:srgbClr>
            </a:outerShdw>
          </a:effectLst>
        </p:spPr>
      </p:sp>
      <p:pic>
        <p:nvPicPr>
          <p:cNvPr id="7" name="Image 0" descr="preencoded.png">    </p:cNvPr>
          <p:cNvPicPr>
            <a:picLocks noChangeAspect="1"/>
          </p:cNvPicPr>
          <p:nvPr/>
        </p:nvPicPr>
        <p:blipFill>
          <a:blip r:embed="rId1"/>
          <a:stretch>
            <a:fillRect/>
          </a:stretch>
        </p:blipFill>
        <p:spPr>
          <a:xfrm>
            <a:off x="640080" y="1325880"/>
            <a:ext cx="73152" cy="658368"/>
          </a:xfrm>
          <a:prstGeom prst="rect">
            <a:avLst/>
          </a:prstGeom>
        </p:spPr>
      </p:pic>
      <p:pic>
        <p:nvPicPr>
          <p:cNvPr id="8" name="Image 1" descr="preencoded.png">    </p:cNvPr>
          <p:cNvPicPr>
            <a:picLocks noChangeAspect="1"/>
          </p:cNvPicPr>
          <p:nvPr/>
        </p:nvPicPr>
        <p:blipFill>
          <a:blip r:embed="rId2"/>
          <a:stretch>
            <a:fillRect/>
          </a:stretch>
        </p:blipFill>
        <p:spPr>
          <a:xfrm>
            <a:off x="841248" y="1481328"/>
            <a:ext cx="329184" cy="329184"/>
          </a:xfrm>
          <a:prstGeom prst="rect">
            <a:avLst/>
          </a:prstGeom>
        </p:spPr>
      </p:pic>
      <p:sp>
        <p:nvSpPr>
          <p:cNvPr id="9" name="Text 5"/>
          <p:cNvSpPr/>
          <p:nvPr/>
        </p:nvSpPr>
        <p:spPr>
          <a:xfrm>
            <a:off x="1280160" y="1362456"/>
            <a:ext cx="3858768" cy="256032"/>
          </a:xfrm>
          <a:prstGeom prst="rect">
            <a:avLst/>
          </a:prstGeom>
          <a:noFill/>
          <a:ln/>
        </p:spPr>
        <p:txBody>
          <a:bodyPr wrap="square" lIns="0" tIns="0" rIns="0" bIns="0" rtlCol="0" anchor="ctr"/>
          <a:lstStyle/>
          <a:p>
            <a:pPr indent="0" marL="0">
              <a:buNone/>
            </a:pPr>
            <a:r>
              <a:rPr lang="en-US" sz="1200" b="1" dirty="0">
                <a:solidFill>
                  <a:srgbClr val="161616"/>
                </a:solidFill>
                <a:latin typeface="Arial" pitchFamily="34" charset="0"/>
                <a:ea typeface="Arial" pitchFamily="34" charset="-122"/>
                <a:cs typeface="Arial" pitchFamily="34" charset="-120"/>
              </a:rPr>
              <a:t>Unplanned Service Outages</a:t>
            </a:r>
            <a:endParaRPr lang="en-US" sz="1200" dirty="0"/>
          </a:p>
        </p:txBody>
      </p:sp>
      <p:sp>
        <p:nvSpPr>
          <p:cNvPr id="10" name="Text 6"/>
          <p:cNvSpPr/>
          <p:nvPr/>
        </p:nvSpPr>
        <p:spPr>
          <a:xfrm>
            <a:off x="1280160" y="1636776"/>
            <a:ext cx="3858768" cy="329184"/>
          </a:xfrm>
          <a:prstGeom prst="rect">
            <a:avLst/>
          </a:prstGeom>
          <a:noFill/>
          <a:ln/>
        </p:spPr>
        <p:txBody>
          <a:bodyPr wrap="square" lIns="0" tIns="0" rIns="0" bIns="0" rtlCol="0" anchor="t"/>
          <a:lstStyle/>
          <a:p>
            <a:pPr indent="0" marL="0">
              <a:buNone/>
            </a:pPr>
            <a:r>
              <a:rPr lang="en-US" sz="950" dirty="0">
                <a:solidFill>
                  <a:srgbClr val="525252"/>
                </a:solidFill>
                <a:latin typeface="Arial" pitchFamily="34" charset="0"/>
                <a:ea typeface="Arial" pitchFamily="34" charset="-122"/>
                <a:cs typeface="Arial" pitchFamily="34" charset="-120"/>
              </a:rPr>
              <a:t>Expired X.509 certificates cause sudden service disruptions — impacting revenue and SLA commitments.</a:t>
            </a:r>
            <a:endParaRPr lang="en-US" sz="950" dirty="0"/>
          </a:p>
        </p:txBody>
      </p:sp>
      <p:sp>
        <p:nvSpPr>
          <p:cNvPr id="11" name="Shape 7"/>
          <p:cNvSpPr/>
          <p:nvPr/>
        </p:nvSpPr>
        <p:spPr>
          <a:xfrm>
            <a:off x="640080" y="2075688"/>
            <a:ext cx="4663440" cy="658368"/>
          </a:xfrm>
          <a:prstGeom prst="rect">
            <a:avLst/>
          </a:prstGeom>
          <a:solidFill>
            <a:srgbClr val="F4F4F4"/>
          </a:solidFill>
          <a:ln/>
          <a:effectLst>
            <a:outerShdw sx="100000" sy="100000" kx="0" ky="0" algn="bl" rotWithShape="0" blurRad="101600" dist="25400" dir="8100000">
              <a:srgbClr val="000000">
                <a:alpha val="8000"/>
              </a:srgbClr>
            </a:outerShdw>
          </a:effectLst>
        </p:spPr>
      </p:sp>
      <p:pic>
        <p:nvPicPr>
          <p:cNvPr id="12" name="Image 2" descr="preencoded.png">    </p:cNvPr>
          <p:cNvPicPr>
            <a:picLocks noChangeAspect="1"/>
          </p:cNvPicPr>
          <p:nvPr/>
        </p:nvPicPr>
        <p:blipFill>
          <a:blip r:embed="rId3"/>
          <a:stretch>
            <a:fillRect/>
          </a:stretch>
        </p:blipFill>
        <p:spPr>
          <a:xfrm>
            <a:off x="640080" y="2075688"/>
            <a:ext cx="73152" cy="658368"/>
          </a:xfrm>
          <a:prstGeom prst="rect">
            <a:avLst/>
          </a:prstGeom>
        </p:spPr>
      </p:pic>
      <p:pic>
        <p:nvPicPr>
          <p:cNvPr id="13" name="Image 3" descr="preencoded.png">    </p:cNvPr>
          <p:cNvPicPr>
            <a:picLocks noChangeAspect="1"/>
          </p:cNvPicPr>
          <p:nvPr/>
        </p:nvPicPr>
        <p:blipFill>
          <a:blip r:embed="rId4"/>
          <a:stretch>
            <a:fillRect/>
          </a:stretch>
        </p:blipFill>
        <p:spPr>
          <a:xfrm>
            <a:off x="841248" y="2231136"/>
            <a:ext cx="329184" cy="329184"/>
          </a:xfrm>
          <a:prstGeom prst="rect">
            <a:avLst/>
          </a:prstGeom>
        </p:spPr>
      </p:pic>
      <p:sp>
        <p:nvSpPr>
          <p:cNvPr id="14" name="Text 8"/>
          <p:cNvSpPr/>
          <p:nvPr/>
        </p:nvSpPr>
        <p:spPr>
          <a:xfrm>
            <a:off x="1280160" y="2112264"/>
            <a:ext cx="3858768" cy="256032"/>
          </a:xfrm>
          <a:prstGeom prst="rect">
            <a:avLst/>
          </a:prstGeom>
          <a:noFill/>
          <a:ln/>
        </p:spPr>
        <p:txBody>
          <a:bodyPr wrap="square" lIns="0" tIns="0" rIns="0" bIns="0" rtlCol="0" anchor="ctr"/>
          <a:lstStyle/>
          <a:p>
            <a:pPr indent="0" marL="0">
              <a:buNone/>
            </a:pPr>
            <a:r>
              <a:rPr lang="en-US" sz="1200" b="1" dirty="0">
                <a:solidFill>
                  <a:srgbClr val="161616"/>
                </a:solidFill>
                <a:latin typeface="Arial" pitchFamily="34" charset="0"/>
                <a:ea typeface="Arial" pitchFamily="34" charset="-122"/>
                <a:cs typeface="Arial" pitchFamily="34" charset="-120"/>
              </a:rPr>
              <a:t>Security Exposure</a:t>
            </a:r>
            <a:endParaRPr lang="en-US" sz="1200" dirty="0"/>
          </a:p>
        </p:txBody>
      </p:sp>
      <p:sp>
        <p:nvSpPr>
          <p:cNvPr id="15" name="Text 9"/>
          <p:cNvSpPr/>
          <p:nvPr/>
        </p:nvSpPr>
        <p:spPr>
          <a:xfrm>
            <a:off x="1280160" y="2386584"/>
            <a:ext cx="3858768" cy="329184"/>
          </a:xfrm>
          <a:prstGeom prst="rect">
            <a:avLst/>
          </a:prstGeom>
          <a:noFill/>
          <a:ln/>
        </p:spPr>
        <p:txBody>
          <a:bodyPr wrap="square" lIns="0" tIns="0" rIns="0" bIns="0" rtlCol="0" anchor="t"/>
          <a:lstStyle/>
          <a:p>
            <a:pPr indent="0" marL="0">
              <a:buNone/>
            </a:pPr>
            <a:r>
              <a:rPr lang="en-US" sz="950" dirty="0">
                <a:solidFill>
                  <a:srgbClr val="525252"/>
                </a:solidFill>
                <a:latin typeface="Arial" pitchFamily="34" charset="0"/>
                <a:ea typeface="Arial" pitchFamily="34" charset="-122"/>
                <a:cs typeface="Arial" pitchFamily="34" charset="-120"/>
              </a:rPr>
              <a:t>Inconsistent certificate deployment creates attack surface and weakens zero-trust posture.</a:t>
            </a:r>
            <a:endParaRPr lang="en-US" sz="950" dirty="0"/>
          </a:p>
        </p:txBody>
      </p:sp>
      <p:sp>
        <p:nvSpPr>
          <p:cNvPr id="16" name="Shape 10"/>
          <p:cNvSpPr/>
          <p:nvPr/>
        </p:nvSpPr>
        <p:spPr>
          <a:xfrm>
            <a:off x="640080" y="2825496"/>
            <a:ext cx="4663440" cy="658368"/>
          </a:xfrm>
          <a:prstGeom prst="rect">
            <a:avLst/>
          </a:prstGeom>
          <a:solidFill>
            <a:srgbClr val="F4F4F4"/>
          </a:solidFill>
          <a:ln/>
          <a:effectLst>
            <a:outerShdw sx="100000" sy="100000" kx="0" ky="0" algn="bl" rotWithShape="0" blurRad="101600" dist="25400" dir="8100000">
              <a:srgbClr val="000000">
                <a:alpha val="8000"/>
              </a:srgbClr>
            </a:outerShdw>
          </a:effectLst>
        </p:spPr>
      </p:sp>
      <p:pic>
        <p:nvPicPr>
          <p:cNvPr id="17" name="Image 4" descr="preencoded.png">    </p:cNvPr>
          <p:cNvPicPr>
            <a:picLocks noChangeAspect="1"/>
          </p:cNvPicPr>
          <p:nvPr/>
        </p:nvPicPr>
        <p:blipFill>
          <a:blip r:embed="rId5"/>
          <a:stretch>
            <a:fillRect/>
          </a:stretch>
        </p:blipFill>
        <p:spPr>
          <a:xfrm>
            <a:off x="640080" y="2825496"/>
            <a:ext cx="73152" cy="658368"/>
          </a:xfrm>
          <a:prstGeom prst="rect">
            <a:avLst/>
          </a:prstGeom>
        </p:spPr>
      </p:pic>
      <p:pic>
        <p:nvPicPr>
          <p:cNvPr id="18" name="Image 5" descr="preencoded.png">    </p:cNvPr>
          <p:cNvPicPr>
            <a:picLocks noChangeAspect="1"/>
          </p:cNvPicPr>
          <p:nvPr/>
        </p:nvPicPr>
        <p:blipFill>
          <a:blip r:embed="rId6"/>
          <a:stretch>
            <a:fillRect/>
          </a:stretch>
        </p:blipFill>
        <p:spPr>
          <a:xfrm>
            <a:off x="841248" y="2980944"/>
            <a:ext cx="329184" cy="329184"/>
          </a:xfrm>
          <a:prstGeom prst="rect">
            <a:avLst/>
          </a:prstGeom>
        </p:spPr>
      </p:pic>
      <p:sp>
        <p:nvSpPr>
          <p:cNvPr id="19" name="Text 11"/>
          <p:cNvSpPr/>
          <p:nvPr/>
        </p:nvSpPr>
        <p:spPr>
          <a:xfrm>
            <a:off x="1280160" y="2862072"/>
            <a:ext cx="3858768" cy="256032"/>
          </a:xfrm>
          <a:prstGeom prst="rect">
            <a:avLst/>
          </a:prstGeom>
          <a:noFill/>
          <a:ln/>
        </p:spPr>
        <p:txBody>
          <a:bodyPr wrap="square" lIns="0" tIns="0" rIns="0" bIns="0" rtlCol="0" anchor="ctr"/>
          <a:lstStyle/>
          <a:p>
            <a:pPr indent="0" marL="0">
              <a:buNone/>
            </a:pPr>
            <a:r>
              <a:rPr lang="en-US" sz="1200" b="1" dirty="0">
                <a:solidFill>
                  <a:srgbClr val="161616"/>
                </a:solidFill>
                <a:latin typeface="Arial" pitchFamily="34" charset="0"/>
                <a:ea typeface="Arial" pitchFamily="34" charset="-122"/>
                <a:cs typeface="Arial" pitchFamily="34" charset="-120"/>
              </a:rPr>
              <a:t>Compliance &amp; Audit Risk</a:t>
            </a:r>
            <a:endParaRPr lang="en-US" sz="1200" dirty="0"/>
          </a:p>
        </p:txBody>
      </p:sp>
      <p:sp>
        <p:nvSpPr>
          <p:cNvPr id="20" name="Text 12"/>
          <p:cNvSpPr/>
          <p:nvPr/>
        </p:nvSpPr>
        <p:spPr>
          <a:xfrm>
            <a:off x="1280160" y="3136392"/>
            <a:ext cx="3858768" cy="329184"/>
          </a:xfrm>
          <a:prstGeom prst="rect">
            <a:avLst/>
          </a:prstGeom>
          <a:noFill/>
          <a:ln/>
        </p:spPr>
        <p:txBody>
          <a:bodyPr wrap="square" lIns="0" tIns="0" rIns="0" bIns="0" rtlCol="0" anchor="t"/>
          <a:lstStyle/>
          <a:p>
            <a:pPr indent="0" marL="0">
              <a:buNone/>
            </a:pPr>
            <a:r>
              <a:rPr lang="en-US" sz="950" dirty="0">
                <a:solidFill>
                  <a:srgbClr val="525252"/>
                </a:solidFill>
                <a:latin typeface="Arial" pitchFamily="34" charset="0"/>
                <a:ea typeface="Arial" pitchFamily="34" charset="-122"/>
                <a:cs typeface="Arial" pitchFamily="34" charset="-120"/>
              </a:rPr>
              <a:t>Missing audit trails trigger regulatory findings and potential financial penalties.</a:t>
            </a:r>
            <a:endParaRPr lang="en-US" sz="950" dirty="0"/>
          </a:p>
        </p:txBody>
      </p:sp>
      <p:sp>
        <p:nvSpPr>
          <p:cNvPr id="21" name="Shape 13"/>
          <p:cNvSpPr/>
          <p:nvPr/>
        </p:nvSpPr>
        <p:spPr>
          <a:xfrm>
            <a:off x="640080" y="3575304"/>
            <a:ext cx="4663440" cy="658368"/>
          </a:xfrm>
          <a:prstGeom prst="rect">
            <a:avLst/>
          </a:prstGeom>
          <a:solidFill>
            <a:srgbClr val="F4F4F4"/>
          </a:solidFill>
          <a:ln/>
          <a:effectLst>
            <a:outerShdw sx="100000" sy="100000" kx="0" ky="0" algn="bl" rotWithShape="0" blurRad="101600" dist="25400" dir="8100000">
              <a:srgbClr val="000000">
                <a:alpha val="8000"/>
              </a:srgbClr>
            </a:outerShdw>
          </a:effectLst>
        </p:spPr>
      </p:sp>
      <p:pic>
        <p:nvPicPr>
          <p:cNvPr id="22" name="Image 6" descr="preencoded.png">    </p:cNvPr>
          <p:cNvPicPr>
            <a:picLocks noChangeAspect="1"/>
          </p:cNvPicPr>
          <p:nvPr/>
        </p:nvPicPr>
        <p:blipFill>
          <a:blip r:embed="rId7"/>
          <a:stretch>
            <a:fillRect/>
          </a:stretch>
        </p:blipFill>
        <p:spPr>
          <a:xfrm>
            <a:off x="640080" y="3575304"/>
            <a:ext cx="73152" cy="658368"/>
          </a:xfrm>
          <a:prstGeom prst="rect">
            <a:avLst/>
          </a:prstGeom>
        </p:spPr>
      </p:pic>
      <p:pic>
        <p:nvPicPr>
          <p:cNvPr id="23" name="Image 7" descr="preencoded.png">    </p:cNvPr>
          <p:cNvPicPr>
            <a:picLocks noChangeAspect="1"/>
          </p:cNvPicPr>
          <p:nvPr/>
        </p:nvPicPr>
        <p:blipFill>
          <a:blip r:embed="rId8"/>
          <a:stretch>
            <a:fillRect/>
          </a:stretch>
        </p:blipFill>
        <p:spPr>
          <a:xfrm>
            <a:off x="841248" y="3730752"/>
            <a:ext cx="329184" cy="329184"/>
          </a:xfrm>
          <a:prstGeom prst="rect">
            <a:avLst/>
          </a:prstGeom>
        </p:spPr>
      </p:pic>
      <p:sp>
        <p:nvSpPr>
          <p:cNvPr id="24" name="Text 14"/>
          <p:cNvSpPr/>
          <p:nvPr/>
        </p:nvSpPr>
        <p:spPr>
          <a:xfrm>
            <a:off x="1280160" y="3611880"/>
            <a:ext cx="3858768" cy="256032"/>
          </a:xfrm>
          <a:prstGeom prst="rect">
            <a:avLst/>
          </a:prstGeom>
          <a:noFill/>
          <a:ln/>
        </p:spPr>
        <p:txBody>
          <a:bodyPr wrap="square" lIns="0" tIns="0" rIns="0" bIns="0" rtlCol="0" anchor="ctr"/>
          <a:lstStyle/>
          <a:p>
            <a:pPr indent="0" marL="0">
              <a:buNone/>
            </a:pPr>
            <a:r>
              <a:rPr lang="en-US" sz="1200" b="1" dirty="0">
                <a:solidFill>
                  <a:srgbClr val="161616"/>
                </a:solidFill>
                <a:latin typeface="Arial" pitchFamily="34" charset="0"/>
                <a:ea typeface="Arial" pitchFamily="34" charset="-122"/>
                <a:cs typeface="Arial" pitchFamily="34" charset="-120"/>
              </a:rPr>
              <a:t>Operational Drag</a:t>
            </a:r>
            <a:endParaRPr lang="en-US" sz="1200" dirty="0"/>
          </a:p>
        </p:txBody>
      </p:sp>
      <p:sp>
        <p:nvSpPr>
          <p:cNvPr id="25" name="Text 15"/>
          <p:cNvSpPr/>
          <p:nvPr/>
        </p:nvSpPr>
        <p:spPr>
          <a:xfrm>
            <a:off x="1280160" y="3886200"/>
            <a:ext cx="3858768" cy="329184"/>
          </a:xfrm>
          <a:prstGeom prst="rect">
            <a:avLst/>
          </a:prstGeom>
          <a:noFill/>
          <a:ln/>
        </p:spPr>
        <p:txBody>
          <a:bodyPr wrap="square" lIns="0" tIns="0" rIns="0" bIns="0" rtlCol="0" anchor="t"/>
          <a:lstStyle/>
          <a:p>
            <a:pPr indent="0" marL="0">
              <a:buNone/>
            </a:pPr>
            <a:r>
              <a:rPr lang="en-US" sz="950" dirty="0">
                <a:solidFill>
                  <a:srgbClr val="525252"/>
                </a:solidFill>
                <a:latin typeface="Arial" pitchFamily="34" charset="0"/>
                <a:ea typeface="Arial" pitchFamily="34" charset="-122"/>
                <a:cs typeface="Arial" pitchFamily="34" charset="-120"/>
              </a:rPr>
              <a:t>Engineers spend days on manual rotation — diverted from strategic, higher-value work.</a:t>
            </a:r>
            <a:endParaRPr lang="en-US" sz="950" dirty="0"/>
          </a:p>
        </p:txBody>
      </p:sp>
      <p:sp>
        <p:nvSpPr>
          <p:cNvPr id="26" name="Shape 16"/>
          <p:cNvSpPr/>
          <p:nvPr/>
        </p:nvSpPr>
        <p:spPr>
          <a:xfrm>
            <a:off x="5577840" y="1325880"/>
            <a:ext cx="2926080" cy="850392"/>
          </a:xfrm>
          <a:prstGeom prst="rect">
            <a:avLst/>
          </a:prstGeom>
          <a:solidFill>
            <a:srgbClr val="FFFFFF"/>
          </a:solidFill>
          <a:ln w="9525">
            <a:solidFill>
              <a:srgbClr val="E0E0E0"/>
            </a:solidFill>
            <a:prstDash val="solid"/>
          </a:ln>
          <a:effectLst>
            <a:outerShdw sx="100000" sy="100000" kx="0" ky="0" algn="bl" rotWithShape="0" blurRad="101600" dist="25400" dir="8100000">
              <a:srgbClr val="000000">
                <a:alpha val="8000"/>
              </a:srgbClr>
            </a:outerShdw>
          </a:effectLst>
        </p:spPr>
      </p:sp>
      <p:sp>
        <p:nvSpPr>
          <p:cNvPr id="27" name="Text 17"/>
          <p:cNvSpPr/>
          <p:nvPr/>
        </p:nvSpPr>
        <p:spPr>
          <a:xfrm>
            <a:off x="5760720" y="1417320"/>
            <a:ext cx="2560320" cy="164592"/>
          </a:xfrm>
          <a:prstGeom prst="rect">
            <a:avLst/>
          </a:prstGeom>
          <a:noFill/>
          <a:ln/>
        </p:spPr>
        <p:txBody>
          <a:bodyPr wrap="square" lIns="0" tIns="0" rIns="0" bIns="0" rtlCol="0" anchor="ctr"/>
          <a:lstStyle/>
          <a:p>
            <a:pPr indent="0" marL="0">
              <a:buNone/>
            </a:pPr>
            <a:r>
              <a:rPr lang="en-US" sz="800" b="1" spc="200" kern="0" dirty="0">
                <a:solidFill>
                  <a:srgbClr val="8D8D8D"/>
                </a:solidFill>
                <a:latin typeface="Arial" pitchFamily="34" charset="0"/>
                <a:ea typeface="Arial" pitchFamily="34" charset="-122"/>
                <a:cs typeface="Arial" pitchFamily="34" charset="-120"/>
              </a:rPr>
              <a:t>ROTATION CYCLE TIME</a:t>
            </a:r>
            <a:endParaRPr lang="en-US" sz="800" dirty="0"/>
          </a:p>
        </p:txBody>
      </p:sp>
      <p:sp>
        <p:nvSpPr>
          <p:cNvPr id="28" name="Text 18"/>
          <p:cNvSpPr/>
          <p:nvPr/>
        </p:nvSpPr>
        <p:spPr>
          <a:xfrm>
            <a:off x="5760720" y="1581912"/>
            <a:ext cx="2560320" cy="274320"/>
          </a:xfrm>
          <a:prstGeom prst="rect">
            <a:avLst/>
          </a:prstGeom>
          <a:noFill/>
          <a:ln/>
        </p:spPr>
        <p:txBody>
          <a:bodyPr wrap="square" lIns="0" tIns="0" rIns="0" bIns="0" rtlCol="0" anchor="ctr"/>
          <a:lstStyle/>
          <a:p>
            <a:pPr indent="0" marL="0">
              <a:buNone/>
            </a:pPr>
            <a:r>
              <a:rPr lang="en-US" sz="2200" b="1" dirty="0">
                <a:solidFill>
                  <a:srgbClr val="DA1E28"/>
                </a:solidFill>
                <a:latin typeface="Arial Black" pitchFamily="34" charset="0"/>
                <a:ea typeface="Arial Black" pitchFamily="34" charset="-122"/>
                <a:cs typeface="Arial Black" pitchFamily="34" charset="-120"/>
              </a:rPr>
              <a:t>Hours → Days</a:t>
            </a:r>
            <a:endParaRPr lang="en-US" sz="2200" dirty="0"/>
          </a:p>
        </p:txBody>
      </p:sp>
      <p:sp>
        <p:nvSpPr>
          <p:cNvPr id="29" name="Text 19"/>
          <p:cNvSpPr/>
          <p:nvPr/>
        </p:nvSpPr>
        <p:spPr>
          <a:xfrm>
            <a:off x="5760720" y="1874520"/>
            <a:ext cx="2560320" cy="292608"/>
          </a:xfrm>
          <a:prstGeom prst="rect">
            <a:avLst/>
          </a:prstGeom>
          <a:noFill/>
          <a:ln/>
        </p:spPr>
        <p:txBody>
          <a:bodyPr wrap="square" lIns="0" tIns="0" rIns="0" bIns="0" rtlCol="0" anchor="t"/>
          <a:lstStyle/>
          <a:p>
            <a:pPr indent="0" marL="0">
              <a:buNone/>
            </a:pPr>
            <a:r>
              <a:rPr lang="en-US" sz="900" dirty="0">
                <a:solidFill>
                  <a:srgbClr val="525252"/>
                </a:solidFill>
                <a:latin typeface="Arial" pitchFamily="34" charset="0"/>
                <a:ea typeface="Arial" pitchFamily="34" charset="-122"/>
                <a:cs typeface="Arial" pitchFamily="34" charset="-120"/>
              </a:rPr>
              <a:t>Manual renewal requires coordination across teams, change windows, and verification</a:t>
            </a:r>
            <a:endParaRPr lang="en-US" sz="900" dirty="0"/>
          </a:p>
        </p:txBody>
      </p:sp>
      <p:sp>
        <p:nvSpPr>
          <p:cNvPr id="30" name="Shape 20"/>
          <p:cNvSpPr/>
          <p:nvPr/>
        </p:nvSpPr>
        <p:spPr>
          <a:xfrm>
            <a:off x="5577840" y="2286000"/>
            <a:ext cx="2926080" cy="850392"/>
          </a:xfrm>
          <a:prstGeom prst="rect">
            <a:avLst/>
          </a:prstGeom>
          <a:solidFill>
            <a:srgbClr val="FFFFFF"/>
          </a:solidFill>
          <a:ln w="9525">
            <a:solidFill>
              <a:srgbClr val="E0E0E0"/>
            </a:solidFill>
            <a:prstDash val="solid"/>
          </a:ln>
          <a:effectLst>
            <a:outerShdw sx="100000" sy="100000" kx="0" ky="0" algn="bl" rotWithShape="0" blurRad="101600" dist="25400" dir="8100000">
              <a:srgbClr val="000000">
                <a:alpha val="8000"/>
              </a:srgbClr>
            </a:outerShdw>
          </a:effectLst>
        </p:spPr>
      </p:sp>
      <p:sp>
        <p:nvSpPr>
          <p:cNvPr id="31" name="Text 21"/>
          <p:cNvSpPr/>
          <p:nvPr/>
        </p:nvSpPr>
        <p:spPr>
          <a:xfrm>
            <a:off x="5760720" y="2377440"/>
            <a:ext cx="2560320" cy="164592"/>
          </a:xfrm>
          <a:prstGeom prst="rect">
            <a:avLst/>
          </a:prstGeom>
          <a:noFill/>
          <a:ln/>
        </p:spPr>
        <p:txBody>
          <a:bodyPr wrap="square" lIns="0" tIns="0" rIns="0" bIns="0" rtlCol="0" anchor="ctr"/>
          <a:lstStyle/>
          <a:p>
            <a:pPr indent="0" marL="0">
              <a:buNone/>
            </a:pPr>
            <a:r>
              <a:rPr lang="en-US" sz="800" b="1" spc="200" kern="0" dirty="0">
                <a:solidFill>
                  <a:srgbClr val="8D8D8D"/>
                </a:solidFill>
                <a:latin typeface="Arial" pitchFamily="34" charset="0"/>
                <a:ea typeface="Arial" pitchFamily="34" charset="-122"/>
                <a:cs typeface="Arial" pitchFamily="34" charset="-120"/>
              </a:rPr>
              <a:t>OUTAGE COST EXPOSURE</a:t>
            </a:r>
            <a:endParaRPr lang="en-US" sz="800" dirty="0"/>
          </a:p>
        </p:txBody>
      </p:sp>
      <p:sp>
        <p:nvSpPr>
          <p:cNvPr id="32" name="Text 22"/>
          <p:cNvSpPr/>
          <p:nvPr/>
        </p:nvSpPr>
        <p:spPr>
          <a:xfrm>
            <a:off x="5760720" y="2542032"/>
            <a:ext cx="2560320" cy="274320"/>
          </a:xfrm>
          <a:prstGeom prst="rect">
            <a:avLst/>
          </a:prstGeom>
          <a:noFill/>
          <a:ln/>
        </p:spPr>
        <p:txBody>
          <a:bodyPr wrap="square" lIns="0" tIns="0" rIns="0" bIns="0" rtlCol="0" anchor="ctr"/>
          <a:lstStyle/>
          <a:p>
            <a:pPr indent="0" marL="0">
              <a:buNone/>
            </a:pPr>
            <a:r>
              <a:rPr lang="en-US" sz="2200" b="1" dirty="0">
                <a:solidFill>
                  <a:srgbClr val="D02670"/>
                </a:solidFill>
                <a:latin typeface="Arial Black" pitchFamily="34" charset="0"/>
                <a:ea typeface="Arial Black" pitchFamily="34" charset="-122"/>
                <a:cs typeface="Arial Black" pitchFamily="34" charset="-120"/>
              </a:rPr>
              <a:t>$Millions</a:t>
            </a:r>
            <a:endParaRPr lang="en-US" sz="2200" dirty="0"/>
          </a:p>
        </p:txBody>
      </p:sp>
      <p:sp>
        <p:nvSpPr>
          <p:cNvPr id="33" name="Text 23"/>
          <p:cNvSpPr/>
          <p:nvPr/>
        </p:nvSpPr>
        <p:spPr>
          <a:xfrm>
            <a:off x="5760720" y="2834640"/>
            <a:ext cx="2560320" cy="292608"/>
          </a:xfrm>
          <a:prstGeom prst="rect">
            <a:avLst/>
          </a:prstGeom>
          <a:noFill/>
          <a:ln/>
        </p:spPr>
        <p:txBody>
          <a:bodyPr wrap="square" lIns="0" tIns="0" rIns="0" bIns="0" rtlCol="0" anchor="t"/>
          <a:lstStyle/>
          <a:p>
            <a:pPr indent="0" marL="0">
              <a:buNone/>
            </a:pPr>
            <a:r>
              <a:rPr lang="en-US" sz="900" dirty="0">
                <a:solidFill>
                  <a:srgbClr val="525252"/>
                </a:solidFill>
                <a:latin typeface="Arial" pitchFamily="34" charset="0"/>
                <a:ea typeface="Arial" pitchFamily="34" charset="-122"/>
                <a:cs typeface="Arial" pitchFamily="34" charset="-120"/>
              </a:rPr>
              <a:t>A single certificate outage can cost millions in lost revenue and reputational damage</a:t>
            </a:r>
            <a:endParaRPr lang="en-US" sz="900" dirty="0"/>
          </a:p>
        </p:txBody>
      </p:sp>
      <p:sp>
        <p:nvSpPr>
          <p:cNvPr id="34" name="Shape 24"/>
          <p:cNvSpPr/>
          <p:nvPr/>
        </p:nvSpPr>
        <p:spPr>
          <a:xfrm>
            <a:off x="5577840" y="3246120"/>
            <a:ext cx="2926080" cy="850392"/>
          </a:xfrm>
          <a:prstGeom prst="rect">
            <a:avLst/>
          </a:prstGeom>
          <a:solidFill>
            <a:srgbClr val="FFFFFF"/>
          </a:solidFill>
          <a:ln w="9525">
            <a:solidFill>
              <a:srgbClr val="E0E0E0"/>
            </a:solidFill>
            <a:prstDash val="solid"/>
          </a:ln>
          <a:effectLst>
            <a:outerShdw sx="100000" sy="100000" kx="0" ky="0" algn="bl" rotWithShape="0" blurRad="101600" dist="25400" dir="8100000">
              <a:srgbClr val="000000">
                <a:alpha val="8000"/>
              </a:srgbClr>
            </a:outerShdw>
          </a:effectLst>
        </p:spPr>
      </p:sp>
      <p:sp>
        <p:nvSpPr>
          <p:cNvPr id="35" name="Text 25"/>
          <p:cNvSpPr/>
          <p:nvPr/>
        </p:nvSpPr>
        <p:spPr>
          <a:xfrm>
            <a:off x="5760720" y="3337560"/>
            <a:ext cx="2560320" cy="164592"/>
          </a:xfrm>
          <a:prstGeom prst="rect">
            <a:avLst/>
          </a:prstGeom>
          <a:noFill/>
          <a:ln/>
        </p:spPr>
        <p:txBody>
          <a:bodyPr wrap="square" lIns="0" tIns="0" rIns="0" bIns="0" rtlCol="0" anchor="ctr"/>
          <a:lstStyle/>
          <a:p>
            <a:pPr indent="0" marL="0">
              <a:buNone/>
            </a:pPr>
            <a:r>
              <a:rPr lang="en-US" sz="800" b="1" spc="200" kern="0" dirty="0">
                <a:solidFill>
                  <a:srgbClr val="8D8D8D"/>
                </a:solidFill>
                <a:latin typeface="Arial" pitchFamily="34" charset="0"/>
                <a:ea typeface="Arial" pitchFamily="34" charset="-122"/>
                <a:cs typeface="Arial" pitchFamily="34" charset="-120"/>
              </a:rPr>
              <a:t>AUDIT REMEDIATION</a:t>
            </a:r>
            <a:endParaRPr lang="en-US" sz="800" dirty="0"/>
          </a:p>
        </p:txBody>
      </p:sp>
      <p:sp>
        <p:nvSpPr>
          <p:cNvPr id="36" name="Text 26"/>
          <p:cNvSpPr/>
          <p:nvPr/>
        </p:nvSpPr>
        <p:spPr>
          <a:xfrm>
            <a:off x="5760720" y="3502152"/>
            <a:ext cx="2560320" cy="274320"/>
          </a:xfrm>
          <a:prstGeom prst="rect">
            <a:avLst/>
          </a:prstGeom>
          <a:noFill/>
          <a:ln/>
        </p:spPr>
        <p:txBody>
          <a:bodyPr wrap="square" lIns="0" tIns="0" rIns="0" bIns="0" rtlCol="0" anchor="ctr"/>
          <a:lstStyle/>
          <a:p>
            <a:pPr indent="0" marL="0">
              <a:buNone/>
            </a:pPr>
            <a:r>
              <a:rPr lang="en-US" sz="2200" b="1" dirty="0">
                <a:solidFill>
                  <a:srgbClr val="8A3FFC"/>
                </a:solidFill>
                <a:latin typeface="Arial Black" pitchFamily="34" charset="0"/>
                <a:ea typeface="Arial Black" pitchFamily="34" charset="-122"/>
                <a:cs typeface="Arial Black" pitchFamily="34" charset="-120"/>
              </a:rPr>
              <a:t>Weeks</a:t>
            </a:r>
            <a:endParaRPr lang="en-US" sz="2200" dirty="0"/>
          </a:p>
        </p:txBody>
      </p:sp>
      <p:sp>
        <p:nvSpPr>
          <p:cNvPr id="37" name="Text 27"/>
          <p:cNvSpPr/>
          <p:nvPr/>
        </p:nvSpPr>
        <p:spPr>
          <a:xfrm>
            <a:off x="5760720" y="3794760"/>
            <a:ext cx="2560320" cy="292608"/>
          </a:xfrm>
          <a:prstGeom prst="rect">
            <a:avLst/>
          </a:prstGeom>
          <a:noFill/>
          <a:ln/>
        </p:spPr>
        <p:txBody>
          <a:bodyPr wrap="square" lIns="0" tIns="0" rIns="0" bIns="0" rtlCol="0" anchor="t"/>
          <a:lstStyle/>
          <a:p>
            <a:pPr indent="0" marL="0">
              <a:buNone/>
            </a:pPr>
            <a:r>
              <a:rPr lang="en-US" sz="900" dirty="0">
                <a:solidFill>
                  <a:srgbClr val="525252"/>
                </a:solidFill>
                <a:latin typeface="Arial" pitchFamily="34" charset="0"/>
                <a:ea typeface="Arial" pitchFamily="34" charset="-122"/>
                <a:cs typeface="Arial" pitchFamily="34" charset="-120"/>
              </a:rPr>
              <a:t>Reconstructing certificate provenance without automation is slow and error-prone</a:t>
            </a:r>
            <a:endParaRPr lang="en-US" sz="900" dirty="0"/>
          </a:p>
        </p:txBody>
      </p:sp>
      <p:sp>
        <p:nvSpPr>
          <p:cNvPr id="38" name="Shape 28"/>
          <p:cNvSpPr/>
          <p:nvPr/>
        </p:nvSpPr>
        <p:spPr>
          <a:xfrm>
            <a:off x="640080" y="4343400"/>
            <a:ext cx="7863840" cy="502920"/>
          </a:xfrm>
          <a:prstGeom prst="rect">
            <a:avLst/>
          </a:prstGeom>
          <a:solidFill>
            <a:srgbClr val="FFF0F0"/>
          </a:solidFill>
          <a:ln w="12700">
            <a:solidFill>
              <a:srgbClr val="DA1E28"/>
            </a:solidFill>
            <a:prstDash val="solid"/>
          </a:ln>
        </p:spPr>
      </p:sp>
      <p:pic>
        <p:nvPicPr>
          <p:cNvPr id="39" name="Image 8" descr="preencoded.png">    </p:cNvPr>
          <p:cNvPicPr>
            <a:picLocks noChangeAspect="1"/>
          </p:cNvPicPr>
          <p:nvPr/>
        </p:nvPicPr>
        <p:blipFill>
          <a:blip r:embed="rId9"/>
          <a:stretch>
            <a:fillRect/>
          </a:stretch>
        </p:blipFill>
        <p:spPr>
          <a:xfrm>
            <a:off x="822960" y="4443984"/>
            <a:ext cx="274320" cy="274320"/>
          </a:xfrm>
          <a:prstGeom prst="rect">
            <a:avLst/>
          </a:prstGeom>
        </p:spPr>
      </p:pic>
      <p:sp>
        <p:nvSpPr>
          <p:cNvPr id="40" name="Text 29"/>
          <p:cNvSpPr/>
          <p:nvPr/>
        </p:nvSpPr>
        <p:spPr>
          <a:xfrm>
            <a:off x="1234440" y="4343400"/>
            <a:ext cx="7086600" cy="502920"/>
          </a:xfrm>
          <a:prstGeom prst="rect">
            <a:avLst/>
          </a:prstGeom>
          <a:noFill/>
          <a:ln/>
        </p:spPr>
        <p:txBody>
          <a:bodyPr wrap="square" lIns="0" tIns="0" rIns="0" bIns="0" rtlCol="0" anchor="ctr"/>
          <a:lstStyle/>
          <a:p>
            <a:pPr indent="0" marL="0">
              <a:buNone/>
            </a:pPr>
            <a:r>
              <a:rPr lang="en-US" sz="1050" b="1" dirty="0">
                <a:solidFill>
                  <a:srgbClr val="161616"/>
                </a:solidFill>
                <a:latin typeface="Arial" pitchFamily="34" charset="0"/>
                <a:ea typeface="Arial" pitchFamily="34" charset="-122"/>
                <a:cs typeface="Arial" pitchFamily="34" charset="-120"/>
              </a:rPr>
              <a:t>The gap is widening: </a:t>
            </a:r>
            <a:pPr indent="0" marL="0">
              <a:buNone/>
            </a:pPr>
            <a:r>
              <a:rPr lang="en-US" sz="1050" dirty="0">
                <a:solidFill>
                  <a:srgbClr val="525252"/>
                </a:solidFill>
                <a:latin typeface="Arial" pitchFamily="34" charset="0"/>
                <a:ea typeface="Arial" pitchFamily="34" charset="-122"/>
                <a:cs typeface="Arial" pitchFamily="34" charset="-120"/>
              </a:rPr>
              <a:t>Every new service deployed increases certificate demand — manual processes cannot scale to match.</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198038"/>
          </a:solidFill>
          <a:ln/>
        </p:spPr>
      </p:sp>
      <p:sp>
        <p:nvSpPr>
          <p:cNvPr id="3" name="Text 1"/>
          <p:cNvSpPr/>
          <p:nvPr/>
        </p:nvSpPr>
        <p:spPr>
          <a:xfrm>
            <a:off x="640080" y="228600"/>
            <a:ext cx="4572000" cy="201168"/>
          </a:xfrm>
          <a:prstGeom prst="rect">
            <a:avLst/>
          </a:prstGeom>
          <a:noFill/>
          <a:ln/>
        </p:spPr>
        <p:txBody>
          <a:bodyPr wrap="square" lIns="0" tIns="0" rIns="0" bIns="0" rtlCol="0" anchor="ctr"/>
          <a:lstStyle/>
          <a:p>
            <a:pPr indent="0" marL="0">
              <a:buNone/>
            </a:pPr>
            <a:r>
              <a:rPr lang="en-US" sz="1000" b="1" spc="300" kern="0" dirty="0">
                <a:solidFill>
                  <a:srgbClr val="198038"/>
                </a:solidFill>
                <a:latin typeface="Arial" pitchFamily="34" charset="0"/>
                <a:ea typeface="Arial" pitchFamily="34" charset="-122"/>
                <a:cs typeface="Arial" pitchFamily="34" charset="-120"/>
              </a:rPr>
              <a:t>ANSWER</a:t>
            </a:r>
            <a:endParaRPr lang="en-US" sz="1000" dirty="0"/>
          </a:p>
        </p:txBody>
      </p:sp>
      <p:sp>
        <p:nvSpPr>
          <p:cNvPr id="4" name="Text 2"/>
          <p:cNvSpPr/>
          <p:nvPr/>
        </p:nvSpPr>
        <p:spPr>
          <a:xfrm>
            <a:off x="640080" y="457200"/>
            <a:ext cx="7863840" cy="429768"/>
          </a:xfrm>
          <a:prstGeom prst="rect">
            <a:avLst/>
          </a:prstGeom>
          <a:noFill/>
          <a:ln/>
        </p:spPr>
        <p:txBody>
          <a:bodyPr wrap="square" lIns="0" tIns="0" rIns="0" bIns="0" rtlCol="0" anchor="ctr"/>
          <a:lstStyle/>
          <a:p>
            <a:pPr indent="0" marL="0">
              <a:buNone/>
            </a:pPr>
            <a:r>
              <a:rPr lang="en-US" sz="2200" b="1" dirty="0">
                <a:solidFill>
                  <a:srgbClr val="161616"/>
                </a:solidFill>
                <a:latin typeface="Arial Black" pitchFamily="34" charset="0"/>
                <a:ea typeface="Arial Black" pitchFamily="34" charset="-122"/>
                <a:cs typeface="Arial Black" pitchFamily="34" charset="-120"/>
              </a:rPr>
              <a:t>HashiCorp Vault + Ansible Automation Platform</a:t>
            </a:r>
            <a:endParaRPr lang="en-US" sz="2200" dirty="0"/>
          </a:p>
        </p:txBody>
      </p:sp>
      <p:sp>
        <p:nvSpPr>
          <p:cNvPr id="5" name="Text 3"/>
          <p:cNvSpPr/>
          <p:nvPr/>
        </p:nvSpPr>
        <p:spPr>
          <a:xfrm>
            <a:off x="640080" y="932688"/>
            <a:ext cx="7863840" cy="274320"/>
          </a:xfrm>
          <a:prstGeom prst="rect">
            <a:avLst/>
          </a:prstGeom>
          <a:noFill/>
          <a:ln/>
        </p:spPr>
        <p:txBody>
          <a:bodyPr wrap="square" lIns="0" tIns="0" rIns="0" bIns="0" rtlCol="0" anchor="ctr"/>
          <a:lstStyle/>
          <a:p>
            <a:pPr indent="0" marL="0">
              <a:buNone/>
            </a:pPr>
            <a:r>
              <a:rPr lang="en-US" sz="1200" dirty="0">
                <a:solidFill>
                  <a:srgbClr val="525252"/>
                </a:solidFill>
                <a:latin typeface="Arial" pitchFamily="34" charset="0"/>
                <a:ea typeface="Arial" pitchFamily="34" charset="-122"/>
                <a:cs typeface="Arial" pitchFamily="34" charset="-120"/>
              </a:rPr>
              <a:t>Best-in-class PKI engine meets enterprise automation for end-to-end X.509 certificate lifecycle</a:t>
            </a:r>
            <a:endParaRPr lang="en-US" sz="1200" dirty="0"/>
          </a:p>
        </p:txBody>
      </p:sp>
      <p:sp>
        <p:nvSpPr>
          <p:cNvPr id="6" name="Shape 4"/>
          <p:cNvSpPr/>
          <p:nvPr/>
        </p:nvSpPr>
        <p:spPr>
          <a:xfrm>
            <a:off x="640080" y="1325880"/>
            <a:ext cx="3749040" cy="2697480"/>
          </a:xfrm>
          <a:prstGeom prst="rect">
            <a:avLst/>
          </a:prstGeom>
          <a:solidFill>
            <a:srgbClr val="F0FFFC"/>
          </a:solidFill>
          <a:ln w="12700">
            <a:solidFill>
              <a:srgbClr val="009D9A"/>
            </a:solidFill>
            <a:prstDash val="solid"/>
          </a:ln>
          <a:effectLst>
            <a:outerShdw sx="100000" sy="100000" kx="0" ky="0" algn="bl" rotWithShape="0" blurRad="101600" dist="25400" dir="8100000">
              <a:srgbClr val="000000">
                <a:alpha val="8000"/>
              </a:srgbClr>
            </a:outerShdw>
          </a:effectLst>
        </p:spPr>
      </p:sp>
      <p:pic>
        <p:nvPicPr>
          <p:cNvPr id="7" name="Image 0" descr="preencoded.png">    </p:cNvPr>
          <p:cNvPicPr>
            <a:picLocks noChangeAspect="1"/>
          </p:cNvPicPr>
          <p:nvPr/>
        </p:nvPicPr>
        <p:blipFill>
          <a:blip r:embed="rId1"/>
          <a:stretch>
            <a:fillRect/>
          </a:stretch>
        </p:blipFill>
        <p:spPr>
          <a:xfrm>
            <a:off x="640080" y="1325880"/>
            <a:ext cx="3749040" cy="73152"/>
          </a:xfrm>
          <a:prstGeom prst="rect">
            <a:avLst/>
          </a:prstGeom>
        </p:spPr>
      </p:pic>
      <p:sp>
        <p:nvSpPr>
          <p:cNvPr id="8" name="Text 5"/>
          <p:cNvSpPr/>
          <p:nvPr/>
        </p:nvSpPr>
        <p:spPr>
          <a:xfrm>
            <a:off x="868680" y="1508760"/>
            <a:ext cx="3291840" cy="182880"/>
          </a:xfrm>
          <a:prstGeom prst="rect">
            <a:avLst/>
          </a:prstGeom>
          <a:noFill/>
          <a:ln/>
        </p:spPr>
        <p:txBody>
          <a:bodyPr wrap="square" lIns="0" tIns="0" rIns="0" bIns="0" rtlCol="0" anchor="ctr"/>
          <a:lstStyle/>
          <a:p>
            <a:pPr indent="0" marL="0">
              <a:buNone/>
            </a:pPr>
            <a:r>
              <a:rPr lang="en-US" sz="900" b="1" spc="200" kern="0" dirty="0">
                <a:solidFill>
                  <a:srgbClr val="009D9A"/>
                </a:solidFill>
                <a:latin typeface="Arial" pitchFamily="34" charset="0"/>
                <a:ea typeface="Arial" pitchFamily="34" charset="-122"/>
                <a:cs typeface="Arial" pitchFamily="34" charset="-120"/>
              </a:rPr>
              <a:t>PKI-AS-A-SERVICE</a:t>
            </a:r>
            <a:endParaRPr lang="en-US" sz="900" dirty="0"/>
          </a:p>
        </p:txBody>
      </p:sp>
      <p:sp>
        <p:nvSpPr>
          <p:cNvPr id="9" name="Shape 6"/>
          <p:cNvSpPr/>
          <p:nvPr/>
        </p:nvSpPr>
        <p:spPr>
          <a:xfrm>
            <a:off x="868680" y="1783080"/>
            <a:ext cx="475488" cy="475488"/>
          </a:xfrm>
          <a:prstGeom prst="ellipse">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932688" y="1847088"/>
            <a:ext cx="347472" cy="347472"/>
          </a:xfrm>
          <a:prstGeom prst="rect">
            <a:avLst/>
          </a:prstGeom>
        </p:spPr>
      </p:pic>
      <p:sp>
        <p:nvSpPr>
          <p:cNvPr id="11" name="Text 7"/>
          <p:cNvSpPr/>
          <p:nvPr/>
        </p:nvSpPr>
        <p:spPr>
          <a:xfrm>
            <a:off x="1463040" y="1801368"/>
            <a:ext cx="2697480" cy="402336"/>
          </a:xfrm>
          <a:prstGeom prst="rect">
            <a:avLst/>
          </a:prstGeom>
          <a:noFill/>
          <a:ln/>
        </p:spPr>
        <p:txBody>
          <a:bodyPr wrap="square" lIns="0" tIns="0" rIns="0" bIns="0" rtlCol="0" anchor="ctr"/>
          <a:lstStyle/>
          <a:p>
            <a:pPr indent="0" marL="0">
              <a:buNone/>
            </a:pPr>
            <a:r>
              <a:rPr lang="en-US" sz="1600" b="1" dirty="0">
                <a:solidFill>
                  <a:srgbClr val="161616"/>
                </a:solidFill>
                <a:latin typeface="Arial" pitchFamily="34" charset="0"/>
                <a:ea typeface="Arial" pitchFamily="34" charset="-122"/>
                <a:cs typeface="Arial" pitchFamily="34" charset="-120"/>
              </a:rPr>
              <a:t>HashiCorp Vault</a:t>
            </a:r>
            <a:endParaRPr lang="en-US" sz="1600" dirty="0"/>
          </a:p>
        </p:txBody>
      </p:sp>
      <p:sp>
        <p:nvSpPr>
          <p:cNvPr id="12" name="Text 8"/>
          <p:cNvSpPr/>
          <p:nvPr/>
        </p:nvSpPr>
        <p:spPr>
          <a:xfrm>
            <a:off x="868680" y="2377440"/>
            <a:ext cx="3291840" cy="15544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525252"/>
                </a:solidFill>
                <a:latin typeface="Arial" pitchFamily="34" charset="0"/>
                <a:ea typeface="Arial" pitchFamily="34" charset="-122"/>
                <a:cs typeface="Arial" pitchFamily="34" charset="-120"/>
              </a:rPr>
              <a:t>Dynamic X.509 certificate issuance on demand</a:t>
            </a:r>
            <a:endParaRPr lang="en-US" sz="1050" dirty="0"/>
          </a:p>
          <a:p>
            <a:pPr marL="342900" indent="-342900">
              <a:spcAft>
                <a:spcPts val="600"/>
              </a:spcAft>
              <a:buSzPct val="100000"/>
              <a:buChar char="•"/>
            </a:pPr>
            <a:r>
              <a:rPr lang="en-US" sz="1050" dirty="0">
                <a:solidFill>
                  <a:srgbClr val="525252"/>
                </a:solidFill>
                <a:latin typeface="Arial" pitchFamily="34" charset="0"/>
                <a:ea typeface="Arial" pitchFamily="34" charset="-122"/>
                <a:cs typeface="Arial" pitchFamily="34" charset="-120"/>
              </a:rPr>
              <a:t>Short-lived certificates reduce blast radius</a:t>
            </a:r>
            <a:endParaRPr lang="en-US" sz="1050" dirty="0"/>
          </a:p>
          <a:p>
            <a:pPr marL="342900" indent="-342900">
              <a:spcAft>
                <a:spcPts val="600"/>
              </a:spcAft>
              <a:buSzPct val="100000"/>
              <a:buChar char="•"/>
            </a:pPr>
            <a:r>
              <a:rPr lang="en-US" sz="1050" dirty="0">
                <a:solidFill>
                  <a:srgbClr val="525252"/>
                </a:solidFill>
                <a:latin typeface="Arial" pitchFamily="34" charset="0"/>
                <a:ea typeface="Arial" pitchFamily="34" charset="-122"/>
                <a:cs typeface="Arial" pitchFamily="34" charset="-120"/>
              </a:rPr>
              <a:t>Policy-as-code governs every issuance</a:t>
            </a:r>
            <a:endParaRPr lang="en-US" sz="1050" dirty="0"/>
          </a:p>
          <a:p>
            <a:pPr marL="342900" indent="-342900">
              <a:spcAft>
                <a:spcPts val="600"/>
              </a:spcAft>
              <a:buSzPct val="100000"/>
              <a:buChar char="•"/>
            </a:pPr>
            <a:r>
              <a:rPr lang="en-US" sz="1050" dirty="0">
                <a:solidFill>
                  <a:srgbClr val="525252"/>
                </a:solidFill>
                <a:latin typeface="Arial" pitchFamily="34" charset="0"/>
                <a:ea typeface="Arial" pitchFamily="34" charset="-122"/>
                <a:cs typeface="Arial" pitchFamily="34" charset="-120"/>
              </a:rPr>
              <a:t>Built-in revocation and CRL/OCSP management</a:t>
            </a:r>
            <a:endParaRPr lang="en-US" sz="1050" dirty="0"/>
          </a:p>
          <a:p>
            <a:pPr marL="342900" indent="-342900">
              <a:spcAft>
                <a:spcPts val="600"/>
              </a:spcAft>
              <a:buSzPct val="100000"/>
              <a:buChar char="•"/>
            </a:pPr>
            <a:r>
              <a:rPr lang="en-US" sz="1050" dirty="0">
                <a:solidFill>
                  <a:srgbClr val="525252"/>
                </a:solidFill>
                <a:latin typeface="Arial" pitchFamily="34" charset="0"/>
                <a:ea typeface="Arial" pitchFamily="34" charset="-122"/>
                <a:cs typeface="Arial" pitchFamily="34" charset="-120"/>
              </a:rPr>
              <a:t>Complete cryptographic audit trail</a:t>
            </a:r>
            <a:endParaRPr lang="en-US" sz="1050" dirty="0"/>
          </a:p>
        </p:txBody>
      </p:sp>
      <p:sp>
        <p:nvSpPr>
          <p:cNvPr id="13" name="Shape 9"/>
          <p:cNvSpPr/>
          <p:nvPr/>
        </p:nvSpPr>
        <p:spPr>
          <a:xfrm>
            <a:off x="4754880" y="1325880"/>
            <a:ext cx="3749040" cy="2697480"/>
          </a:xfrm>
          <a:prstGeom prst="rect">
            <a:avLst/>
          </a:prstGeom>
          <a:solidFill>
            <a:srgbClr val="F0F5FF"/>
          </a:solidFill>
          <a:ln w="12700">
            <a:solidFill>
              <a:srgbClr val="0F62FE"/>
            </a:solidFill>
            <a:prstDash val="solid"/>
          </a:ln>
          <a:effectLst>
            <a:outerShdw sx="100000" sy="100000" kx="0" ky="0" algn="bl" rotWithShape="0" blurRad="101600" dist="25400" dir="8100000">
              <a:srgbClr val="000000">
                <a:alpha val="8000"/>
              </a:srgbClr>
            </a:outerShdw>
          </a:effectLst>
        </p:spPr>
      </p:sp>
      <p:pic>
        <p:nvPicPr>
          <p:cNvPr id="14" name="Image 2" descr="preencoded.png">    </p:cNvPr>
          <p:cNvPicPr>
            <a:picLocks noChangeAspect="1"/>
          </p:cNvPicPr>
          <p:nvPr/>
        </p:nvPicPr>
        <p:blipFill>
          <a:blip r:embed="rId3"/>
          <a:stretch>
            <a:fillRect/>
          </a:stretch>
        </p:blipFill>
        <p:spPr>
          <a:xfrm>
            <a:off x="4754880" y="1325880"/>
            <a:ext cx="3749040" cy="73152"/>
          </a:xfrm>
          <a:prstGeom prst="rect">
            <a:avLst/>
          </a:prstGeom>
        </p:spPr>
      </p:pic>
      <p:sp>
        <p:nvSpPr>
          <p:cNvPr id="15" name="Text 10"/>
          <p:cNvSpPr/>
          <p:nvPr/>
        </p:nvSpPr>
        <p:spPr>
          <a:xfrm>
            <a:off x="4983480" y="1508760"/>
            <a:ext cx="3291840" cy="182880"/>
          </a:xfrm>
          <a:prstGeom prst="rect">
            <a:avLst/>
          </a:prstGeom>
          <a:noFill/>
          <a:ln/>
        </p:spPr>
        <p:txBody>
          <a:bodyPr wrap="square" lIns="0" tIns="0" rIns="0" bIns="0" rtlCol="0" anchor="ctr"/>
          <a:lstStyle/>
          <a:p>
            <a:pPr indent="0" marL="0">
              <a:buNone/>
            </a:pPr>
            <a:r>
              <a:rPr lang="en-US" sz="900" b="1" spc="200" kern="0" dirty="0">
                <a:solidFill>
                  <a:srgbClr val="0F62FE"/>
                </a:solidFill>
                <a:latin typeface="Arial" pitchFamily="34" charset="0"/>
                <a:ea typeface="Arial" pitchFamily="34" charset="-122"/>
                <a:cs typeface="Arial" pitchFamily="34" charset="-120"/>
              </a:rPr>
              <a:t>ENTERPRISE AUTOMATION</a:t>
            </a:r>
            <a:endParaRPr lang="en-US" sz="900" dirty="0"/>
          </a:p>
        </p:txBody>
      </p:sp>
      <p:sp>
        <p:nvSpPr>
          <p:cNvPr id="16" name="Shape 11"/>
          <p:cNvSpPr/>
          <p:nvPr/>
        </p:nvSpPr>
        <p:spPr>
          <a:xfrm>
            <a:off x="4983480" y="1783080"/>
            <a:ext cx="475488" cy="475488"/>
          </a:xfrm>
          <a:prstGeom prst="ellipse">
            <a:avLst/>
          </a:prstGeom>
          <a:solidFill>
            <a:srgbClr val="FFFFFF"/>
          </a:solidFill>
          <a:ln/>
        </p:spPr>
      </p:sp>
      <p:pic>
        <p:nvPicPr>
          <p:cNvPr id="17" name="Image 3" descr="preencoded.png">    </p:cNvPr>
          <p:cNvPicPr>
            <a:picLocks noChangeAspect="1"/>
          </p:cNvPicPr>
          <p:nvPr/>
        </p:nvPicPr>
        <p:blipFill>
          <a:blip r:embed="rId4"/>
          <a:stretch>
            <a:fillRect/>
          </a:stretch>
        </p:blipFill>
        <p:spPr>
          <a:xfrm>
            <a:off x="5047488" y="1847088"/>
            <a:ext cx="347472" cy="347472"/>
          </a:xfrm>
          <a:prstGeom prst="rect">
            <a:avLst/>
          </a:prstGeom>
        </p:spPr>
      </p:pic>
      <p:sp>
        <p:nvSpPr>
          <p:cNvPr id="18" name="Text 12"/>
          <p:cNvSpPr/>
          <p:nvPr/>
        </p:nvSpPr>
        <p:spPr>
          <a:xfrm>
            <a:off x="5577840" y="1801368"/>
            <a:ext cx="2697480" cy="402336"/>
          </a:xfrm>
          <a:prstGeom prst="rect">
            <a:avLst/>
          </a:prstGeom>
          <a:noFill/>
          <a:ln/>
        </p:spPr>
        <p:txBody>
          <a:bodyPr wrap="square" lIns="0" tIns="0" rIns="0" bIns="0" rtlCol="0" anchor="ctr"/>
          <a:lstStyle/>
          <a:p>
            <a:pPr indent="0" marL="0">
              <a:buNone/>
            </a:pPr>
            <a:r>
              <a:rPr lang="en-US" sz="1600" b="1" dirty="0">
                <a:solidFill>
                  <a:srgbClr val="161616"/>
                </a:solidFill>
                <a:latin typeface="Arial" pitchFamily="34" charset="0"/>
                <a:ea typeface="Arial" pitchFamily="34" charset="-122"/>
                <a:cs typeface="Arial" pitchFamily="34" charset="-120"/>
              </a:rPr>
              <a:t>Ansible Automation Platform</a:t>
            </a:r>
            <a:endParaRPr lang="en-US" sz="1600" dirty="0"/>
          </a:p>
        </p:txBody>
      </p:sp>
      <p:sp>
        <p:nvSpPr>
          <p:cNvPr id="19" name="Text 13"/>
          <p:cNvSpPr/>
          <p:nvPr/>
        </p:nvSpPr>
        <p:spPr>
          <a:xfrm>
            <a:off x="4983480" y="2377440"/>
            <a:ext cx="3291840" cy="15544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525252"/>
                </a:solidFill>
                <a:latin typeface="Arial" pitchFamily="34" charset="0"/>
                <a:ea typeface="Arial" pitchFamily="34" charset="-122"/>
                <a:cs typeface="Arial" pitchFamily="34" charset="-120"/>
              </a:rPr>
              <a:t>Orchestrated deployment at enterprise scale</a:t>
            </a:r>
            <a:endParaRPr lang="en-US" sz="1050" dirty="0"/>
          </a:p>
          <a:p>
            <a:pPr marL="342900" indent="-342900">
              <a:spcAft>
                <a:spcPts val="600"/>
              </a:spcAft>
              <a:buSzPct val="100000"/>
              <a:buChar char="•"/>
            </a:pPr>
            <a:r>
              <a:rPr lang="en-US" sz="1050" dirty="0">
                <a:solidFill>
                  <a:srgbClr val="525252"/>
                </a:solidFill>
                <a:latin typeface="Arial" pitchFamily="34" charset="0"/>
                <a:ea typeface="Arial" pitchFamily="34" charset="-122"/>
                <a:cs typeface="Arial" pitchFamily="34" charset="-120"/>
              </a:rPr>
              <a:t>Consistent configuration across all environments</a:t>
            </a:r>
            <a:endParaRPr lang="en-US" sz="1050" dirty="0"/>
          </a:p>
          <a:p>
            <a:pPr marL="342900" indent="-342900">
              <a:spcAft>
                <a:spcPts val="600"/>
              </a:spcAft>
              <a:buSzPct val="100000"/>
              <a:buChar char="•"/>
            </a:pPr>
            <a:r>
              <a:rPr lang="en-US" sz="1050" dirty="0">
                <a:solidFill>
                  <a:srgbClr val="525252"/>
                </a:solidFill>
                <a:latin typeface="Arial" pitchFamily="34" charset="0"/>
                <a:ea typeface="Arial" pitchFamily="34" charset="-122"/>
                <a:cs typeface="Arial" pitchFamily="34" charset="-120"/>
              </a:rPr>
              <a:t>Self-service workflows for application teams</a:t>
            </a:r>
            <a:endParaRPr lang="en-US" sz="1050" dirty="0"/>
          </a:p>
          <a:p>
            <a:pPr marL="342900" indent="-342900">
              <a:spcAft>
                <a:spcPts val="600"/>
              </a:spcAft>
              <a:buSzPct val="100000"/>
              <a:buChar char="•"/>
            </a:pPr>
            <a:r>
              <a:rPr lang="en-US" sz="1050" dirty="0">
                <a:solidFill>
                  <a:srgbClr val="525252"/>
                </a:solidFill>
                <a:latin typeface="Arial" pitchFamily="34" charset="0"/>
                <a:ea typeface="Arial" pitchFamily="34" charset="-122"/>
                <a:cs typeface="Arial" pitchFamily="34" charset="-120"/>
              </a:rPr>
              <a:t>Agentless — no software to install on targets</a:t>
            </a:r>
            <a:endParaRPr lang="en-US" sz="1050" dirty="0"/>
          </a:p>
          <a:p>
            <a:pPr marL="342900" indent="-342900">
              <a:spcAft>
                <a:spcPts val="600"/>
              </a:spcAft>
              <a:buSzPct val="100000"/>
              <a:buChar char="•"/>
            </a:pPr>
            <a:r>
              <a:rPr lang="en-US" sz="1050" dirty="0">
                <a:solidFill>
                  <a:srgbClr val="525252"/>
                </a:solidFill>
                <a:latin typeface="Arial" pitchFamily="34" charset="0"/>
                <a:ea typeface="Arial" pitchFamily="34" charset="-122"/>
                <a:cs typeface="Arial" pitchFamily="34" charset="-120"/>
              </a:rPr>
              <a:t>Compliance validated with every deployment</a:t>
            </a:r>
            <a:endParaRPr lang="en-US" sz="1050" dirty="0"/>
          </a:p>
        </p:txBody>
      </p:sp>
      <p:pic>
        <p:nvPicPr>
          <p:cNvPr id="20" name="Image 4" descr="preencoded.png">    </p:cNvPr>
          <p:cNvPicPr>
            <a:picLocks noChangeAspect="1"/>
          </p:cNvPicPr>
          <p:nvPr/>
        </p:nvPicPr>
        <p:blipFill>
          <a:blip r:embed="rId5"/>
          <a:stretch>
            <a:fillRect/>
          </a:stretch>
        </p:blipFill>
        <p:spPr>
          <a:xfrm>
            <a:off x="4443984" y="2546604"/>
            <a:ext cx="256032" cy="256032"/>
          </a:xfrm>
          <a:prstGeom prst="rect">
            <a:avLst/>
          </a:prstGeom>
        </p:spPr>
      </p:pic>
      <p:sp>
        <p:nvSpPr>
          <p:cNvPr id="21" name="Shape 14"/>
          <p:cNvSpPr/>
          <p:nvPr/>
        </p:nvSpPr>
        <p:spPr>
          <a:xfrm>
            <a:off x="640080" y="4343400"/>
            <a:ext cx="7863840" cy="502920"/>
          </a:xfrm>
          <a:prstGeom prst="rect">
            <a:avLst/>
          </a:prstGeom>
          <a:solidFill>
            <a:srgbClr val="F0FFF4"/>
          </a:solidFill>
          <a:ln w="12700">
            <a:solidFill>
              <a:srgbClr val="198038"/>
            </a:solidFill>
            <a:prstDash val="solid"/>
          </a:ln>
        </p:spPr>
      </p:sp>
      <p:pic>
        <p:nvPicPr>
          <p:cNvPr id="22" name="Image 5" descr="preencoded.png">    </p:cNvPr>
          <p:cNvPicPr>
            <a:picLocks noChangeAspect="1"/>
          </p:cNvPicPr>
          <p:nvPr/>
        </p:nvPicPr>
        <p:blipFill>
          <a:blip r:embed="rId6"/>
          <a:stretch>
            <a:fillRect/>
          </a:stretch>
        </p:blipFill>
        <p:spPr>
          <a:xfrm>
            <a:off x="822960" y="4443984"/>
            <a:ext cx="274320" cy="274320"/>
          </a:xfrm>
          <a:prstGeom prst="rect">
            <a:avLst/>
          </a:prstGeom>
        </p:spPr>
      </p:pic>
      <p:sp>
        <p:nvSpPr>
          <p:cNvPr id="23" name="Text 15"/>
          <p:cNvSpPr/>
          <p:nvPr/>
        </p:nvSpPr>
        <p:spPr>
          <a:xfrm>
            <a:off x="1234440" y="4343400"/>
            <a:ext cx="7086600" cy="502920"/>
          </a:xfrm>
          <a:prstGeom prst="rect">
            <a:avLst/>
          </a:prstGeom>
          <a:noFill/>
          <a:ln/>
        </p:spPr>
        <p:txBody>
          <a:bodyPr wrap="square" lIns="0" tIns="0" rIns="0" bIns="0" rtlCol="0" anchor="ctr"/>
          <a:lstStyle/>
          <a:p>
            <a:pPr indent="0" marL="0">
              <a:buNone/>
            </a:pPr>
            <a:r>
              <a:rPr lang="en-US" sz="1050" b="1" dirty="0">
                <a:solidFill>
                  <a:srgbClr val="161616"/>
                </a:solidFill>
                <a:latin typeface="Arial" pitchFamily="34" charset="0"/>
                <a:ea typeface="Arial" pitchFamily="34" charset="-122"/>
                <a:cs typeface="Arial" pitchFamily="34" charset="-120"/>
              </a:rPr>
              <a:t>Combined outcome: </a:t>
            </a:r>
            <a:pPr indent="0" marL="0">
              <a:buNone/>
            </a:pPr>
            <a:r>
              <a:rPr lang="en-US" sz="1050" dirty="0">
                <a:solidFill>
                  <a:srgbClr val="525252"/>
                </a:solidFill>
                <a:latin typeface="Arial" pitchFamily="34" charset="0"/>
                <a:ea typeface="Arial" pitchFamily="34" charset="-122"/>
                <a:cs typeface="Arial" pitchFamily="34" charset="-120"/>
              </a:rPr>
              <a:t>Zero certificate outages • Continuous compliance • Teams focused on innovation, not rotation.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PKI Certificate Lifecycle — Vault + Ansible Automation Platform</dc:title>
  <dc:subject>PptxGenJS Presentation</dc:subject>
  <dc:creator>HashiCorp + Red Hat</dc:creator>
  <cp:lastModifiedBy>HashiCorp + Red Hat</cp:lastModifiedBy>
  <cp:revision>1</cp:revision>
  <dcterms:created xsi:type="dcterms:W3CDTF">2026-03-17T06:18:04Z</dcterms:created>
  <dcterms:modified xsi:type="dcterms:W3CDTF">2026-03-17T06:18:04Z</dcterms:modified>
</cp:coreProperties>
</file>